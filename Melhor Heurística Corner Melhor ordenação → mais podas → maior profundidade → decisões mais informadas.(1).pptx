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00503000000020004"/>
      <p:regular r:id="rId19"/>
    </p:embeddedFont>
    <p:embeddedFont>
      <p:font typeface="Inter" charset="1" panose="02000503000000020004"/>
      <p:regular r:id="rId20"/>
    </p:embeddedFont>
    <p:embeddedFont>
      <p:font typeface="Inter Italics" charset="1" panose="0200050300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## Slide 1: Capa (~1 min)</a:t>
            </a:r>
          </a:p>
          <a:p>
            <a:r>
              <a:rPr lang="en-US"/>
              <a:t/>
            </a:r>
          </a:p>
          <a:p>
            <a:r>
              <a:rPr lang="en-US"/>
              <a:t>- Apresentar o grupo e os integrantes</a:t>
            </a:r>
          </a:p>
          <a:p>
            <a:r>
              <a:rPr lang="en-US"/>
              <a:t>- Contextualizar: trabalho T1 de MC906, tema Othello atribuído pela regra de RA mod 3</a:t>
            </a:r>
          </a:p>
          <a:p>
            <a:r>
              <a:rPr lang="en-US"/>
              <a:t>- Objetivo: desenvolver agentes de busca adversarial competitivos para Othello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491" y="-101039"/>
            <a:ext cx="18462967" cy="10489398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959" y="15217"/>
            <a:ext cx="6847531" cy="10271296"/>
            <a:chOff x="0" y="0"/>
            <a:chExt cx="5715000" cy="8572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5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" t="0" r="-9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7852236" y="2774988"/>
            <a:ext cx="9467685" cy="205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2"/>
              </a:lnSpc>
            </a:pPr>
            <a:r>
              <a:rPr lang="en-US" b="true" sz="55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Busca Adversarial em Jogos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02773" y="5027614"/>
            <a:ext cx="81120" cy="61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5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2236" y="5388282"/>
            <a:ext cx="9133340" cy="85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220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MC906 — Introdução à Inteligência Artificial— Unicamp </a:t>
            </a:r>
          </a:p>
          <a:p>
            <a:pPr algn="l">
              <a:lnSpc>
                <a:spcPts val="3557"/>
              </a:lnSpc>
            </a:pPr>
            <a:r>
              <a:rPr lang="en-US" sz="220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Prof. Anderson Rocha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2236" y="3881726"/>
            <a:ext cx="9467685" cy="86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90"/>
              </a:lnSpc>
            </a:pPr>
            <a:r>
              <a:rPr lang="en-US" b="true" sz="317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Agente Inteligente para Othello (Reversi)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2236" y="6885577"/>
            <a:ext cx="9133340" cy="2176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220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Bruno Salles - 281129 </a:t>
            </a:r>
          </a:p>
          <a:p>
            <a:pPr algn="l">
              <a:lnSpc>
                <a:spcPts val="3557"/>
              </a:lnSpc>
            </a:pPr>
            <a:r>
              <a:rPr lang="en-US" sz="220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Rodrigo Banin - 238257 </a:t>
            </a:r>
          </a:p>
          <a:p>
            <a:pPr algn="l">
              <a:lnSpc>
                <a:spcPts val="3557"/>
              </a:lnSpc>
            </a:pPr>
            <a:r>
              <a:rPr lang="en-US" sz="220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Caio Lima - 288808 </a:t>
            </a:r>
          </a:p>
          <a:p>
            <a:pPr algn="l">
              <a:lnSpc>
                <a:spcPts val="3557"/>
              </a:lnSpc>
            </a:pPr>
            <a:r>
              <a:rPr lang="en-US" sz="220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João Bonatti - 237575 </a:t>
            </a:r>
          </a:p>
          <a:p>
            <a:pPr algn="l">
              <a:lnSpc>
                <a:spcPts val="3557"/>
              </a:lnSpc>
            </a:pPr>
            <a:r>
              <a:rPr lang="en-US" sz="220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Ricardo Bello - 247326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7852"/>
            <a:ext cx="18260082" cy="10271296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959" y="7852"/>
            <a:ext cx="18260082" cy="10271296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04682" y="969706"/>
            <a:ext cx="9972611" cy="73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4"/>
              </a:lnSpc>
            </a:pPr>
            <a:r>
              <a:rPr lang="en-US" sz="443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 Jogo Othello e Modelagem Formal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4682" y="2020582"/>
            <a:ext cx="16278635" cy="69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8"/>
              </a:lnSpc>
            </a:pP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Jogo de tabuleiro estratégico em Grid </a:t>
            </a:r>
            <a:r>
              <a:rPr lang="en-US" sz="174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8×8</a:t>
            </a: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determinístico, de soma zero e observabilidade total. A dinâmica baseia-se no </a:t>
            </a:r>
            <a:r>
              <a:rPr lang="en-US" sz="174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flanqueamento e captura</a:t>
            </a: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de peças. Estratégia dominante: controle dos </a:t>
            </a:r>
            <a:r>
              <a:rPr lang="en-US" sz="174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cantos</a:t>
            </a: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(posições irreversíveis/"estáveis").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4682" y="2972861"/>
            <a:ext cx="8067542" cy="585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0"/>
              </a:lnSpc>
            </a:pPr>
            <a:r>
              <a:rPr lang="en-US" sz="355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Definição Formal — Tupla (S, A, T, U)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0417" y="3815450"/>
            <a:ext cx="8077205" cy="2721779"/>
            <a:chOff x="0" y="0"/>
            <a:chExt cx="10786072" cy="36345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9050" y="19050"/>
              <a:ext cx="10747883" cy="3596513"/>
            </a:xfrm>
            <a:custGeom>
              <a:avLst/>
              <a:gdLst/>
              <a:ahLst/>
              <a:cxnLst/>
              <a:rect r="r" b="b" t="t" l="l"/>
              <a:pathLst>
                <a:path h="3596513" w="10747883">
                  <a:moveTo>
                    <a:pt x="0" y="127000"/>
                  </a:moveTo>
                  <a:cubicBezTo>
                    <a:pt x="0" y="56896"/>
                    <a:pt x="57277" y="0"/>
                    <a:pt x="127889" y="0"/>
                  </a:cubicBezTo>
                  <a:lnTo>
                    <a:pt x="10619994" y="0"/>
                  </a:lnTo>
                  <a:cubicBezTo>
                    <a:pt x="10690606" y="0"/>
                    <a:pt x="10747883" y="56896"/>
                    <a:pt x="10747883" y="127000"/>
                  </a:cubicBezTo>
                  <a:lnTo>
                    <a:pt x="10747883" y="3469513"/>
                  </a:lnTo>
                  <a:cubicBezTo>
                    <a:pt x="10747883" y="3539617"/>
                    <a:pt x="10690606" y="3596513"/>
                    <a:pt x="10619994" y="3596513"/>
                  </a:cubicBezTo>
                  <a:lnTo>
                    <a:pt x="127889" y="3596513"/>
                  </a:lnTo>
                  <a:cubicBezTo>
                    <a:pt x="57277" y="3596513"/>
                    <a:pt x="0" y="3539617"/>
                    <a:pt x="0" y="34695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85983" cy="3634613"/>
            </a:xfrm>
            <a:custGeom>
              <a:avLst/>
              <a:gdLst/>
              <a:ahLst/>
              <a:cxnLst/>
              <a:rect r="r" b="b" t="t" l="l"/>
              <a:pathLst>
                <a:path h="3634613" w="10785983">
                  <a:moveTo>
                    <a:pt x="0" y="146050"/>
                  </a:moveTo>
                  <a:cubicBezTo>
                    <a:pt x="0" y="65278"/>
                    <a:pt x="65913" y="0"/>
                    <a:pt x="146939" y="0"/>
                  </a:cubicBezTo>
                  <a:lnTo>
                    <a:pt x="10639044" y="0"/>
                  </a:lnTo>
                  <a:lnTo>
                    <a:pt x="10639044" y="19050"/>
                  </a:lnTo>
                  <a:lnTo>
                    <a:pt x="10639044" y="0"/>
                  </a:lnTo>
                  <a:cubicBezTo>
                    <a:pt x="10720070" y="0"/>
                    <a:pt x="10785983" y="65278"/>
                    <a:pt x="10785983" y="146050"/>
                  </a:cubicBezTo>
                  <a:lnTo>
                    <a:pt x="10766933" y="146050"/>
                  </a:lnTo>
                  <a:lnTo>
                    <a:pt x="10785983" y="146050"/>
                  </a:lnTo>
                  <a:lnTo>
                    <a:pt x="10785983" y="3488563"/>
                  </a:lnTo>
                  <a:lnTo>
                    <a:pt x="10766933" y="3488563"/>
                  </a:lnTo>
                  <a:lnTo>
                    <a:pt x="10785983" y="3488563"/>
                  </a:lnTo>
                  <a:cubicBezTo>
                    <a:pt x="10785983" y="3569335"/>
                    <a:pt x="10720070" y="3634613"/>
                    <a:pt x="10639044" y="3634613"/>
                  </a:cubicBezTo>
                  <a:lnTo>
                    <a:pt x="10639044" y="3615563"/>
                  </a:lnTo>
                  <a:lnTo>
                    <a:pt x="10639044" y="3634613"/>
                  </a:lnTo>
                  <a:lnTo>
                    <a:pt x="146939" y="3634613"/>
                  </a:lnTo>
                  <a:lnTo>
                    <a:pt x="146939" y="3615563"/>
                  </a:lnTo>
                  <a:lnTo>
                    <a:pt x="146939" y="3634613"/>
                  </a:lnTo>
                  <a:cubicBezTo>
                    <a:pt x="65913" y="3634613"/>
                    <a:pt x="0" y="3569335"/>
                    <a:pt x="0" y="3488563"/>
                  </a:cubicBezTo>
                  <a:lnTo>
                    <a:pt x="0" y="146050"/>
                  </a:lnTo>
                  <a:lnTo>
                    <a:pt x="19050" y="146050"/>
                  </a:lnTo>
                  <a:lnTo>
                    <a:pt x="0" y="146050"/>
                  </a:lnTo>
                  <a:moveTo>
                    <a:pt x="38100" y="146050"/>
                  </a:moveTo>
                  <a:lnTo>
                    <a:pt x="38100" y="3488563"/>
                  </a:lnTo>
                  <a:lnTo>
                    <a:pt x="19050" y="3488563"/>
                  </a:lnTo>
                  <a:lnTo>
                    <a:pt x="38100" y="3488563"/>
                  </a:lnTo>
                  <a:cubicBezTo>
                    <a:pt x="38100" y="3548126"/>
                    <a:pt x="86741" y="3596513"/>
                    <a:pt x="146939" y="3596513"/>
                  </a:cubicBezTo>
                  <a:lnTo>
                    <a:pt x="10639044" y="3596513"/>
                  </a:lnTo>
                  <a:cubicBezTo>
                    <a:pt x="10699242" y="3596513"/>
                    <a:pt x="10747883" y="3547999"/>
                    <a:pt x="10747883" y="3488563"/>
                  </a:cubicBezTo>
                  <a:lnTo>
                    <a:pt x="10747883" y="146050"/>
                  </a:lnTo>
                  <a:cubicBezTo>
                    <a:pt x="10747883" y="86487"/>
                    <a:pt x="10699242" y="38100"/>
                    <a:pt x="10639044" y="38100"/>
                  </a:cubicBezTo>
                  <a:lnTo>
                    <a:pt x="146939" y="38100"/>
                  </a:lnTo>
                  <a:lnTo>
                    <a:pt x="146939" y="19050"/>
                  </a:lnTo>
                  <a:lnTo>
                    <a:pt x="146939" y="38100"/>
                  </a:lnTo>
                  <a:cubicBezTo>
                    <a:pt x="86741" y="38100"/>
                    <a:pt x="38100" y="86614"/>
                    <a:pt x="38100" y="1460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33214" y="3858247"/>
            <a:ext cx="7991611" cy="679408"/>
            <a:chOff x="0" y="0"/>
            <a:chExt cx="10671772" cy="9072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71811" cy="907288"/>
            </a:xfrm>
            <a:custGeom>
              <a:avLst/>
              <a:gdLst/>
              <a:ahLst/>
              <a:cxnLst/>
              <a:rect r="r" b="b" t="t" l="l"/>
              <a:pathLst>
                <a:path h="907288" w="10671811">
                  <a:moveTo>
                    <a:pt x="0" y="81280"/>
                  </a:moveTo>
                  <a:cubicBezTo>
                    <a:pt x="0" y="36449"/>
                    <a:pt x="36449" y="0"/>
                    <a:pt x="81280" y="0"/>
                  </a:cubicBezTo>
                  <a:lnTo>
                    <a:pt x="10590530" y="0"/>
                  </a:lnTo>
                  <a:cubicBezTo>
                    <a:pt x="10635488" y="0"/>
                    <a:pt x="10671811" y="36449"/>
                    <a:pt x="10671811" y="81280"/>
                  </a:cubicBezTo>
                  <a:lnTo>
                    <a:pt x="10671811" y="826008"/>
                  </a:lnTo>
                  <a:cubicBezTo>
                    <a:pt x="10671811" y="870966"/>
                    <a:pt x="10635362" y="907288"/>
                    <a:pt x="10590530" y="907288"/>
                  </a:cubicBezTo>
                  <a:lnTo>
                    <a:pt x="81280" y="907288"/>
                  </a:lnTo>
                  <a:cubicBezTo>
                    <a:pt x="36322" y="907288"/>
                    <a:pt x="0" y="870839"/>
                    <a:pt x="0" y="82600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859091" y="4028471"/>
            <a:ext cx="339704" cy="376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62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9677" y="4709276"/>
            <a:ext cx="2830998" cy="36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84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Estado (S)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9677" y="5133622"/>
            <a:ext cx="7538675" cy="69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8"/>
              </a:lnSpc>
            </a:pP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Matriz 8×8 onde cada posição </a:t>
            </a:r>
            <a:r>
              <a:rPr lang="en-US" sz="174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Bi,j ∈ {∅, Preto, Branco}</a:t>
            </a: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Estado inicial S₀ com 4 peças centrais cruzadas. Turno: </a:t>
            </a:r>
            <a:r>
              <a:rPr lang="en-US" sz="174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 ∈ {Preto, Branco}</a:t>
            </a: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9677" y="5894307"/>
            <a:ext cx="7538675" cy="37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8"/>
              </a:lnSpc>
            </a:pP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Implementação: Vazio = 0, Preto = 1, Branco = −1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20236" y="3815450"/>
            <a:ext cx="8077347" cy="2721779"/>
            <a:chOff x="0" y="0"/>
            <a:chExt cx="10786262" cy="36345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9050" y="19050"/>
              <a:ext cx="10748137" cy="3596513"/>
            </a:xfrm>
            <a:custGeom>
              <a:avLst/>
              <a:gdLst/>
              <a:ahLst/>
              <a:cxnLst/>
              <a:rect r="r" b="b" t="t" l="l"/>
              <a:pathLst>
                <a:path h="3596513" w="10748137">
                  <a:moveTo>
                    <a:pt x="0" y="127000"/>
                  </a:moveTo>
                  <a:cubicBezTo>
                    <a:pt x="0" y="56896"/>
                    <a:pt x="57277" y="0"/>
                    <a:pt x="127889" y="0"/>
                  </a:cubicBezTo>
                  <a:lnTo>
                    <a:pt x="10620248" y="0"/>
                  </a:lnTo>
                  <a:cubicBezTo>
                    <a:pt x="10690860" y="0"/>
                    <a:pt x="10748137" y="56896"/>
                    <a:pt x="10748137" y="127000"/>
                  </a:cubicBezTo>
                  <a:lnTo>
                    <a:pt x="10748137" y="3469513"/>
                  </a:lnTo>
                  <a:cubicBezTo>
                    <a:pt x="10748137" y="3539617"/>
                    <a:pt x="10690860" y="3596513"/>
                    <a:pt x="10620248" y="3596513"/>
                  </a:cubicBezTo>
                  <a:lnTo>
                    <a:pt x="127889" y="3596513"/>
                  </a:lnTo>
                  <a:cubicBezTo>
                    <a:pt x="57277" y="3596513"/>
                    <a:pt x="0" y="3539617"/>
                    <a:pt x="0" y="34695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86237" cy="3634613"/>
            </a:xfrm>
            <a:custGeom>
              <a:avLst/>
              <a:gdLst/>
              <a:ahLst/>
              <a:cxnLst/>
              <a:rect r="r" b="b" t="t" l="l"/>
              <a:pathLst>
                <a:path h="3634613" w="10786237">
                  <a:moveTo>
                    <a:pt x="0" y="146050"/>
                  </a:moveTo>
                  <a:cubicBezTo>
                    <a:pt x="0" y="65278"/>
                    <a:pt x="65913" y="0"/>
                    <a:pt x="146939" y="0"/>
                  </a:cubicBezTo>
                  <a:lnTo>
                    <a:pt x="10639298" y="0"/>
                  </a:lnTo>
                  <a:lnTo>
                    <a:pt x="10639298" y="19050"/>
                  </a:lnTo>
                  <a:lnTo>
                    <a:pt x="10639298" y="0"/>
                  </a:lnTo>
                  <a:cubicBezTo>
                    <a:pt x="10720324" y="0"/>
                    <a:pt x="10786237" y="65278"/>
                    <a:pt x="10786237" y="146050"/>
                  </a:cubicBezTo>
                  <a:lnTo>
                    <a:pt x="10767187" y="146050"/>
                  </a:lnTo>
                  <a:lnTo>
                    <a:pt x="10786237" y="146050"/>
                  </a:lnTo>
                  <a:lnTo>
                    <a:pt x="10786237" y="3488563"/>
                  </a:lnTo>
                  <a:lnTo>
                    <a:pt x="10767187" y="3488563"/>
                  </a:lnTo>
                  <a:lnTo>
                    <a:pt x="10786237" y="3488563"/>
                  </a:lnTo>
                  <a:cubicBezTo>
                    <a:pt x="10786237" y="3569335"/>
                    <a:pt x="10720324" y="3634613"/>
                    <a:pt x="10639298" y="3634613"/>
                  </a:cubicBezTo>
                  <a:lnTo>
                    <a:pt x="10639298" y="3615563"/>
                  </a:lnTo>
                  <a:lnTo>
                    <a:pt x="10639298" y="3634613"/>
                  </a:lnTo>
                  <a:lnTo>
                    <a:pt x="146939" y="3634613"/>
                  </a:lnTo>
                  <a:lnTo>
                    <a:pt x="146939" y="3615563"/>
                  </a:lnTo>
                  <a:lnTo>
                    <a:pt x="146939" y="3634613"/>
                  </a:lnTo>
                  <a:cubicBezTo>
                    <a:pt x="65913" y="3634613"/>
                    <a:pt x="0" y="3569335"/>
                    <a:pt x="0" y="3488563"/>
                  </a:cubicBezTo>
                  <a:lnTo>
                    <a:pt x="0" y="146050"/>
                  </a:lnTo>
                  <a:lnTo>
                    <a:pt x="19050" y="146050"/>
                  </a:lnTo>
                  <a:lnTo>
                    <a:pt x="0" y="146050"/>
                  </a:lnTo>
                  <a:moveTo>
                    <a:pt x="38100" y="146050"/>
                  </a:moveTo>
                  <a:lnTo>
                    <a:pt x="38100" y="3488563"/>
                  </a:lnTo>
                  <a:lnTo>
                    <a:pt x="19050" y="3488563"/>
                  </a:lnTo>
                  <a:lnTo>
                    <a:pt x="38100" y="3488563"/>
                  </a:lnTo>
                  <a:cubicBezTo>
                    <a:pt x="38100" y="3548126"/>
                    <a:pt x="86741" y="3596513"/>
                    <a:pt x="146939" y="3596513"/>
                  </a:cubicBezTo>
                  <a:lnTo>
                    <a:pt x="10639298" y="3596513"/>
                  </a:lnTo>
                  <a:cubicBezTo>
                    <a:pt x="10699496" y="3596513"/>
                    <a:pt x="10748137" y="3547999"/>
                    <a:pt x="10748137" y="3488563"/>
                  </a:cubicBezTo>
                  <a:lnTo>
                    <a:pt x="10748137" y="146050"/>
                  </a:lnTo>
                  <a:cubicBezTo>
                    <a:pt x="10748137" y="86487"/>
                    <a:pt x="10699496" y="38100"/>
                    <a:pt x="10639298" y="38100"/>
                  </a:cubicBezTo>
                  <a:lnTo>
                    <a:pt x="146939" y="38100"/>
                  </a:lnTo>
                  <a:lnTo>
                    <a:pt x="146939" y="19050"/>
                  </a:lnTo>
                  <a:lnTo>
                    <a:pt x="146939" y="38100"/>
                  </a:lnTo>
                  <a:cubicBezTo>
                    <a:pt x="86741" y="38100"/>
                    <a:pt x="38100" y="86614"/>
                    <a:pt x="38100" y="1460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263033" y="3858247"/>
            <a:ext cx="7991753" cy="679408"/>
            <a:chOff x="0" y="0"/>
            <a:chExt cx="10671962" cy="9072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71937" cy="907288"/>
            </a:xfrm>
            <a:custGeom>
              <a:avLst/>
              <a:gdLst/>
              <a:ahLst/>
              <a:cxnLst/>
              <a:rect r="r" b="b" t="t" l="l"/>
              <a:pathLst>
                <a:path h="907288" w="10671937">
                  <a:moveTo>
                    <a:pt x="0" y="81280"/>
                  </a:moveTo>
                  <a:cubicBezTo>
                    <a:pt x="0" y="36449"/>
                    <a:pt x="36449" y="0"/>
                    <a:pt x="81280" y="0"/>
                  </a:cubicBezTo>
                  <a:lnTo>
                    <a:pt x="10590657" y="0"/>
                  </a:lnTo>
                  <a:cubicBezTo>
                    <a:pt x="10635614" y="0"/>
                    <a:pt x="10671937" y="36449"/>
                    <a:pt x="10671937" y="81280"/>
                  </a:cubicBezTo>
                  <a:lnTo>
                    <a:pt x="10671937" y="826008"/>
                  </a:lnTo>
                  <a:cubicBezTo>
                    <a:pt x="10671937" y="870966"/>
                    <a:pt x="10635488" y="907288"/>
                    <a:pt x="10590657" y="907288"/>
                  </a:cubicBezTo>
                  <a:lnTo>
                    <a:pt x="81280" y="907288"/>
                  </a:lnTo>
                  <a:cubicBezTo>
                    <a:pt x="36322" y="907288"/>
                    <a:pt x="0" y="870839"/>
                    <a:pt x="0" y="82600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089053" y="4028471"/>
            <a:ext cx="339704" cy="376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62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89496" y="4709276"/>
            <a:ext cx="2830998" cy="36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84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Ações (A)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89496" y="5133622"/>
            <a:ext cx="7538827" cy="102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8"/>
              </a:lnSpc>
            </a:pP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Coordenadas </a:t>
            </a:r>
            <a:r>
              <a:rPr lang="en-US" sz="174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(i, j)</a:t>
            </a: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onde </a:t>
            </a:r>
            <a:r>
              <a:rPr lang="en-US" sz="174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Bi,j = ∅</a:t>
            </a: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 a colocação flanqueia ao menos uma peça oponente em linha reta. Geração por buscas radiais nas </a:t>
            </a:r>
            <a:r>
              <a:rPr lang="en-US" sz="174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8 direções</a:t>
            </a: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90417" y="6689844"/>
            <a:ext cx="8077205" cy="2613151"/>
            <a:chOff x="0" y="0"/>
            <a:chExt cx="10786072" cy="34895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9050" y="19050"/>
              <a:ext cx="10748010" cy="3451352"/>
            </a:xfrm>
            <a:custGeom>
              <a:avLst/>
              <a:gdLst/>
              <a:ahLst/>
              <a:cxnLst/>
              <a:rect r="r" b="b" t="t" l="l"/>
              <a:pathLst>
                <a:path h="3451352" w="10748010">
                  <a:moveTo>
                    <a:pt x="0" y="127000"/>
                  </a:moveTo>
                  <a:cubicBezTo>
                    <a:pt x="0" y="56896"/>
                    <a:pt x="57277" y="0"/>
                    <a:pt x="128016" y="0"/>
                  </a:cubicBezTo>
                  <a:lnTo>
                    <a:pt x="10619994" y="0"/>
                  </a:lnTo>
                  <a:cubicBezTo>
                    <a:pt x="10690606" y="0"/>
                    <a:pt x="10748010" y="56896"/>
                    <a:pt x="10748010" y="127000"/>
                  </a:cubicBezTo>
                  <a:lnTo>
                    <a:pt x="10748010" y="3324352"/>
                  </a:lnTo>
                  <a:cubicBezTo>
                    <a:pt x="10748010" y="3394456"/>
                    <a:pt x="10690733" y="3451352"/>
                    <a:pt x="10619994" y="3451352"/>
                  </a:cubicBezTo>
                  <a:lnTo>
                    <a:pt x="128016" y="3451352"/>
                  </a:lnTo>
                  <a:cubicBezTo>
                    <a:pt x="57404" y="3451352"/>
                    <a:pt x="0" y="3394456"/>
                    <a:pt x="0" y="33243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86110" cy="3489452"/>
            </a:xfrm>
            <a:custGeom>
              <a:avLst/>
              <a:gdLst/>
              <a:ahLst/>
              <a:cxnLst/>
              <a:rect r="r" b="b" t="t" l="l"/>
              <a:pathLst>
                <a:path h="3489452" w="10786110">
                  <a:moveTo>
                    <a:pt x="0" y="146050"/>
                  </a:moveTo>
                  <a:cubicBezTo>
                    <a:pt x="0" y="65278"/>
                    <a:pt x="65913" y="0"/>
                    <a:pt x="147066" y="0"/>
                  </a:cubicBezTo>
                  <a:lnTo>
                    <a:pt x="10639044" y="0"/>
                  </a:lnTo>
                  <a:lnTo>
                    <a:pt x="10639044" y="19050"/>
                  </a:lnTo>
                  <a:lnTo>
                    <a:pt x="10639044" y="0"/>
                  </a:lnTo>
                  <a:cubicBezTo>
                    <a:pt x="10720070" y="0"/>
                    <a:pt x="10786110" y="65278"/>
                    <a:pt x="10786110" y="146050"/>
                  </a:cubicBezTo>
                  <a:lnTo>
                    <a:pt x="10767060" y="146050"/>
                  </a:lnTo>
                  <a:lnTo>
                    <a:pt x="10786110" y="146050"/>
                  </a:lnTo>
                  <a:lnTo>
                    <a:pt x="10786110" y="3343402"/>
                  </a:lnTo>
                  <a:lnTo>
                    <a:pt x="10767060" y="3343402"/>
                  </a:lnTo>
                  <a:lnTo>
                    <a:pt x="10786110" y="3343402"/>
                  </a:lnTo>
                  <a:cubicBezTo>
                    <a:pt x="10786110" y="3424174"/>
                    <a:pt x="10720197" y="3489452"/>
                    <a:pt x="10639044" y="3489452"/>
                  </a:cubicBezTo>
                  <a:lnTo>
                    <a:pt x="10639044" y="3470402"/>
                  </a:lnTo>
                  <a:lnTo>
                    <a:pt x="10639044" y="3489452"/>
                  </a:lnTo>
                  <a:lnTo>
                    <a:pt x="147066" y="3489452"/>
                  </a:lnTo>
                  <a:lnTo>
                    <a:pt x="147066" y="3470402"/>
                  </a:lnTo>
                  <a:lnTo>
                    <a:pt x="147066" y="3489452"/>
                  </a:lnTo>
                  <a:cubicBezTo>
                    <a:pt x="65913" y="3489579"/>
                    <a:pt x="0" y="3424301"/>
                    <a:pt x="0" y="3343402"/>
                  </a:cubicBezTo>
                  <a:lnTo>
                    <a:pt x="0" y="146050"/>
                  </a:lnTo>
                  <a:lnTo>
                    <a:pt x="19050" y="146050"/>
                  </a:lnTo>
                  <a:lnTo>
                    <a:pt x="0" y="146050"/>
                  </a:lnTo>
                  <a:moveTo>
                    <a:pt x="38100" y="146050"/>
                  </a:moveTo>
                  <a:lnTo>
                    <a:pt x="38100" y="3343402"/>
                  </a:lnTo>
                  <a:lnTo>
                    <a:pt x="19050" y="3343402"/>
                  </a:lnTo>
                  <a:lnTo>
                    <a:pt x="38100" y="3343402"/>
                  </a:lnTo>
                  <a:cubicBezTo>
                    <a:pt x="38100" y="3402838"/>
                    <a:pt x="86741" y="3451352"/>
                    <a:pt x="147066" y="3451352"/>
                  </a:cubicBezTo>
                  <a:lnTo>
                    <a:pt x="10639044" y="3451352"/>
                  </a:lnTo>
                  <a:cubicBezTo>
                    <a:pt x="10699369" y="3451352"/>
                    <a:pt x="10748010" y="3402838"/>
                    <a:pt x="10748010" y="3343402"/>
                  </a:cubicBezTo>
                  <a:lnTo>
                    <a:pt x="10748010" y="146050"/>
                  </a:lnTo>
                  <a:cubicBezTo>
                    <a:pt x="10748010" y="86614"/>
                    <a:pt x="10699369" y="38100"/>
                    <a:pt x="10639044" y="38100"/>
                  </a:cubicBezTo>
                  <a:lnTo>
                    <a:pt x="147066" y="38100"/>
                  </a:lnTo>
                  <a:lnTo>
                    <a:pt x="147066" y="19050"/>
                  </a:lnTo>
                  <a:lnTo>
                    <a:pt x="147066" y="38100"/>
                  </a:lnTo>
                  <a:cubicBezTo>
                    <a:pt x="86741" y="38100"/>
                    <a:pt x="38100" y="86614"/>
                    <a:pt x="38100" y="1460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33214" y="6732641"/>
            <a:ext cx="7991611" cy="679408"/>
            <a:chOff x="0" y="0"/>
            <a:chExt cx="10671772" cy="90726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71811" cy="907288"/>
            </a:xfrm>
            <a:custGeom>
              <a:avLst/>
              <a:gdLst/>
              <a:ahLst/>
              <a:cxnLst/>
              <a:rect r="r" b="b" t="t" l="l"/>
              <a:pathLst>
                <a:path h="907288" w="10671811">
                  <a:moveTo>
                    <a:pt x="0" y="81280"/>
                  </a:moveTo>
                  <a:cubicBezTo>
                    <a:pt x="0" y="36449"/>
                    <a:pt x="36449" y="0"/>
                    <a:pt x="81280" y="0"/>
                  </a:cubicBezTo>
                  <a:lnTo>
                    <a:pt x="10590530" y="0"/>
                  </a:lnTo>
                  <a:cubicBezTo>
                    <a:pt x="10635488" y="0"/>
                    <a:pt x="10671811" y="36449"/>
                    <a:pt x="10671811" y="81280"/>
                  </a:cubicBezTo>
                  <a:lnTo>
                    <a:pt x="10671811" y="826008"/>
                  </a:lnTo>
                  <a:cubicBezTo>
                    <a:pt x="10671811" y="870966"/>
                    <a:pt x="10635362" y="907288"/>
                    <a:pt x="10590530" y="907288"/>
                  </a:cubicBezTo>
                  <a:lnTo>
                    <a:pt x="81280" y="907288"/>
                  </a:lnTo>
                  <a:cubicBezTo>
                    <a:pt x="36322" y="907288"/>
                    <a:pt x="0" y="870839"/>
                    <a:pt x="0" y="82600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4859091" y="6902856"/>
            <a:ext cx="339704" cy="376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62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9677" y="7583660"/>
            <a:ext cx="2830998" cy="36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84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Transição (T)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59677" y="8008006"/>
            <a:ext cx="7538675" cy="102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8"/>
              </a:lnSpc>
            </a:pP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Aplica ação </a:t>
            </a:r>
            <a:r>
              <a:rPr lang="en-US" sz="174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 ∈ A</a:t>
            </a: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ao estado </a:t>
            </a:r>
            <a:r>
              <a:rPr lang="en-US" sz="174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invertendo peças flanqueadas e alternando turno </a:t>
            </a:r>
            <a:r>
              <a:rPr lang="en-US" sz="174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(p ← ¬p)</a:t>
            </a: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Se </a:t>
            </a:r>
            <a:r>
              <a:rPr lang="en-US" sz="174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 = ∅</a:t>
            </a: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turno passado sem alterações. Matriz clonada para cada nó filho.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20236" y="6689844"/>
            <a:ext cx="8077347" cy="2613151"/>
            <a:chOff x="0" y="0"/>
            <a:chExt cx="10786262" cy="34895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9050" y="19050"/>
              <a:ext cx="10748264" cy="3451352"/>
            </a:xfrm>
            <a:custGeom>
              <a:avLst/>
              <a:gdLst/>
              <a:ahLst/>
              <a:cxnLst/>
              <a:rect r="r" b="b" t="t" l="l"/>
              <a:pathLst>
                <a:path h="3451352" w="10748264">
                  <a:moveTo>
                    <a:pt x="0" y="127000"/>
                  </a:moveTo>
                  <a:cubicBezTo>
                    <a:pt x="0" y="56896"/>
                    <a:pt x="57277" y="0"/>
                    <a:pt x="128016" y="0"/>
                  </a:cubicBezTo>
                  <a:lnTo>
                    <a:pt x="10620248" y="0"/>
                  </a:lnTo>
                  <a:cubicBezTo>
                    <a:pt x="10690860" y="0"/>
                    <a:pt x="10748264" y="56896"/>
                    <a:pt x="10748264" y="127000"/>
                  </a:cubicBezTo>
                  <a:lnTo>
                    <a:pt x="10748264" y="3324352"/>
                  </a:lnTo>
                  <a:cubicBezTo>
                    <a:pt x="10748264" y="3394456"/>
                    <a:pt x="10690987" y="3451352"/>
                    <a:pt x="10620248" y="3451352"/>
                  </a:cubicBezTo>
                  <a:lnTo>
                    <a:pt x="128016" y="3451352"/>
                  </a:lnTo>
                  <a:cubicBezTo>
                    <a:pt x="57404" y="3451352"/>
                    <a:pt x="0" y="3394456"/>
                    <a:pt x="0" y="33243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86364" cy="3489452"/>
            </a:xfrm>
            <a:custGeom>
              <a:avLst/>
              <a:gdLst/>
              <a:ahLst/>
              <a:cxnLst/>
              <a:rect r="r" b="b" t="t" l="l"/>
              <a:pathLst>
                <a:path h="3489452" w="10786364">
                  <a:moveTo>
                    <a:pt x="0" y="146050"/>
                  </a:moveTo>
                  <a:cubicBezTo>
                    <a:pt x="0" y="65278"/>
                    <a:pt x="65913" y="0"/>
                    <a:pt x="147066" y="0"/>
                  </a:cubicBezTo>
                  <a:lnTo>
                    <a:pt x="10639298" y="0"/>
                  </a:lnTo>
                  <a:lnTo>
                    <a:pt x="10639298" y="19050"/>
                  </a:lnTo>
                  <a:lnTo>
                    <a:pt x="10639298" y="0"/>
                  </a:lnTo>
                  <a:cubicBezTo>
                    <a:pt x="10720324" y="0"/>
                    <a:pt x="10786364" y="65278"/>
                    <a:pt x="10786364" y="146050"/>
                  </a:cubicBezTo>
                  <a:lnTo>
                    <a:pt x="10767314" y="146050"/>
                  </a:lnTo>
                  <a:lnTo>
                    <a:pt x="10786364" y="146050"/>
                  </a:lnTo>
                  <a:lnTo>
                    <a:pt x="10786364" y="3343402"/>
                  </a:lnTo>
                  <a:lnTo>
                    <a:pt x="10767314" y="3343402"/>
                  </a:lnTo>
                  <a:lnTo>
                    <a:pt x="10786364" y="3343402"/>
                  </a:lnTo>
                  <a:cubicBezTo>
                    <a:pt x="10786364" y="3424174"/>
                    <a:pt x="10720451" y="3489452"/>
                    <a:pt x="10639298" y="3489452"/>
                  </a:cubicBezTo>
                  <a:lnTo>
                    <a:pt x="10639298" y="3470402"/>
                  </a:lnTo>
                  <a:lnTo>
                    <a:pt x="10639298" y="3489452"/>
                  </a:lnTo>
                  <a:lnTo>
                    <a:pt x="147066" y="3489452"/>
                  </a:lnTo>
                  <a:lnTo>
                    <a:pt x="147066" y="3470402"/>
                  </a:lnTo>
                  <a:lnTo>
                    <a:pt x="147066" y="3489452"/>
                  </a:lnTo>
                  <a:cubicBezTo>
                    <a:pt x="65913" y="3489579"/>
                    <a:pt x="0" y="3424301"/>
                    <a:pt x="0" y="3343402"/>
                  </a:cubicBezTo>
                  <a:lnTo>
                    <a:pt x="0" y="146050"/>
                  </a:lnTo>
                  <a:lnTo>
                    <a:pt x="19050" y="146050"/>
                  </a:lnTo>
                  <a:lnTo>
                    <a:pt x="0" y="146050"/>
                  </a:lnTo>
                  <a:moveTo>
                    <a:pt x="38100" y="146050"/>
                  </a:moveTo>
                  <a:lnTo>
                    <a:pt x="38100" y="3343402"/>
                  </a:lnTo>
                  <a:lnTo>
                    <a:pt x="19050" y="3343402"/>
                  </a:lnTo>
                  <a:lnTo>
                    <a:pt x="38100" y="3343402"/>
                  </a:lnTo>
                  <a:cubicBezTo>
                    <a:pt x="38100" y="3402838"/>
                    <a:pt x="86741" y="3451352"/>
                    <a:pt x="147066" y="3451352"/>
                  </a:cubicBezTo>
                  <a:lnTo>
                    <a:pt x="10639298" y="3451352"/>
                  </a:lnTo>
                  <a:cubicBezTo>
                    <a:pt x="10699623" y="3451352"/>
                    <a:pt x="10748264" y="3402838"/>
                    <a:pt x="10748264" y="3343402"/>
                  </a:cubicBezTo>
                  <a:lnTo>
                    <a:pt x="10748264" y="146050"/>
                  </a:lnTo>
                  <a:cubicBezTo>
                    <a:pt x="10748264" y="86614"/>
                    <a:pt x="10699623" y="38100"/>
                    <a:pt x="10639298" y="38100"/>
                  </a:cubicBezTo>
                  <a:lnTo>
                    <a:pt x="147066" y="38100"/>
                  </a:lnTo>
                  <a:lnTo>
                    <a:pt x="147066" y="19050"/>
                  </a:lnTo>
                  <a:lnTo>
                    <a:pt x="147066" y="38100"/>
                  </a:lnTo>
                  <a:cubicBezTo>
                    <a:pt x="86741" y="38100"/>
                    <a:pt x="38100" y="86614"/>
                    <a:pt x="38100" y="1460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263033" y="6732641"/>
            <a:ext cx="7991753" cy="679408"/>
            <a:chOff x="0" y="0"/>
            <a:chExt cx="10671962" cy="90726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71937" cy="907288"/>
            </a:xfrm>
            <a:custGeom>
              <a:avLst/>
              <a:gdLst/>
              <a:ahLst/>
              <a:cxnLst/>
              <a:rect r="r" b="b" t="t" l="l"/>
              <a:pathLst>
                <a:path h="907288" w="10671937">
                  <a:moveTo>
                    <a:pt x="0" y="81280"/>
                  </a:moveTo>
                  <a:cubicBezTo>
                    <a:pt x="0" y="36449"/>
                    <a:pt x="36449" y="0"/>
                    <a:pt x="81280" y="0"/>
                  </a:cubicBezTo>
                  <a:lnTo>
                    <a:pt x="10590657" y="0"/>
                  </a:lnTo>
                  <a:cubicBezTo>
                    <a:pt x="10635614" y="0"/>
                    <a:pt x="10671937" y="36449"/>
                    <a:pt x="10671937" y="81280"/>
                  </a:cubicBezTo>
                  <a:lnTo>
                    <a:pt x="10671937" y="826008"/>
                  </a:lnTo>
                  <a:cubicBezTo>
                    <a:pt x="10671937" y="870966"/>
                    <a:pt x="10635488" y="907288"/>
                    <a:pt x="10590657" y="907288"/>
                  </a:cubicBezTo>
                  <a:lnTo>
                    <a:pt x="81280" y="907288"/>
                  </a:lnTo>
                  <a:cubicBezTo>
                    <a:pt x="36322" y="907288"/>
                    <a:pt x="0" y="870839"/>
                    <a:pt x="0" y="82600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3089053" y="6902856"/>
            <a:ext cx="339704" cy="376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62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489496" y="7583660"/>
            <a:ext cx="3224788" cy="36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84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Terminal e Utilidade (U)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489496" y="8008006"/>
            <a:ext cx="7538827" cy="69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8"/>
              </a:lnSpc>
            </a:pP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Terminal quando </a:t>
            </a:r>
            <a:r>
              <a:rPr lang="en-US" sz="174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A(p) = ∅</a:t>
            </a: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74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A(¬p) = ∅</a:t>
            </a: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Função </a:t>
            </a:r>
            <a:r>
              <a:rPr lang="en-US" sz="174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U(s)</a:t>
            </a:r>
            <a:r>
              <a:rPr lang="en-US" sz="174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avalia vantagem via heurísticas.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491" y="-101450"/>
            <a:ext cx="18462967" cy="10489398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3025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29375"/>
                  </a:lnTo>
                  <a:lnTo>
                    <a:pt x="0" y="64293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9525"/>
            </a:xfrm>
            <a:custGeom>
              <a:avLst/>
              <a:gdLst/>
              <a:ahLst/>
              <a:cxnLst/>
              <a:rect r="r" b="b" t="t" l="l"/>
              <a:pathLst>
                <a:path h="9525" w="11430000">
                  <a:moveTo>
                    <a:pt x="0" y="0"/>
                  </a:moveTo>
                  <a:lnTo>
                    <a:pt x="0" y="9525"/>
                  </a:lnTo>
                  <a:lnTo>
                    <a:pt x="11430000" y="95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04705" y="1383864"/>
            <a:ext cx="10117957" cy="96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1"/>
              </a:lnSpc>
            </a:pPr>
            <a:r>
              <a:rPr lang="en-US" b="true" sz="55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Minimax e Alpha-Beta Pruning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4705" y="2987811"/>
            <a:ext cx="7486436" cy="276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Minimax</a:t>
            </a:r>
          </a:p>
          <a:p>
            <a:pPr algn="l">
              <a:lnSpc>
                <a:spcPts val="359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Árvore de decisão: MAX maximiza, MIN minimiza. Avalia folhas com heurística U(s,p). Passe forçado quando sem jogadas.</a:t>
            </a:r>
          </a:p>
          <a:p>
            <a:pPr algn="l">
              <a:lnSpc>
                <a:spcPts val="5571"/>
              </a:lnSpc>
            </a:pPr>
            <a:r>
              <a:rPr lang="en-US" b="true" sz="222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Complexidade:</a:t>
            </a: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O(b^d), b ≈ 10 no Othello.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04454" y="2987811"/>
            <a:ext cx="7831552" cy="160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Alpha-Beta Pruning</a:t>
            </a:r>
          </a:p>
          <a:p>
            <a:pPr algn="l">
              <a:lnSpc>
                <a:spcPts val="359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Mesma decisão, mas elimina ramos irrelevantes. Mantém α (melhor MAX) e β (melhor MIN). Poda quando β ≤ α.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11649" y="8436588"/>
            <a:ext cx="2225417" cy="38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3724 → 1631 nós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79787" y="8436588"/>
            <a:ext cx="2176389" cy="38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1918 → 1328 nós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38982" y="8436588"/>
            <a:ext cx="1941762" cy="38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959 → 851 nós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4868" y="6356329"/>
            <a:ext cx="5058979" cy="198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7"/>
              </a:lnSpc>
            </a:pPr>
            <a:r>
              <a:rPr lang="en-US" b="true" sz="735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56,2%</a:t>
            </a:r>
          </a:p>
          <a:p>
            <a:pPr algn="ctr">
              <a:lnSpc>
                <a:spcPts val="5601"/>
              </a:lnSpc>
            </a:pPr>
            <a:r>
              <a:rPr lang="en-US" b="true" sz="4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Redução-Corner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46844" y="6356329"/>
            <a:ext cx="4442276" cy="198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7"/>
              </a:lnSpc>
            </a:pPr>
            <a:r>
              <a:rPr lang="en-US" b="true" sz="735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30,8%</a:t>
            </a:r>
          </a:p>
          <a:p>
            <a:pPr algn="ctr">
              <a:lnSpc>
                <a:spcPts val="5591"/>
              </a:lnSpc>
            </a:pPr>
            <a:r>
              <a:rPr lang="en-US" b="true" sz="399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Redução-Frontier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18369" y="6356242"/>
            <a:ext cx="4782988" cy="198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7"/>
              </a:lnSpc>
            </a:pPr>
            <a:r>
              <a:rPr lang="en-US" b="true" sz="735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11,3%</a:t>
            </a:r>
          </a:p>
          <a:p>
            <a:pPr algn="ctr">
              <a:lnSpc>
                <a:spcPts val="5591"/>
              </a:lnSpc>
            </a:pPr>
            <a:r>
              <a:rPr lang="en-US" b="true" sz="399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Redução-Mobility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491" y="-101450"/>
            <a:ext cx="18462967" cy="10489398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3025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29375"/>
                  </a:lnTo>
                  <a:lnTo>
                    <a:pt x="0" y="64293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9525"/>
            </a:xfrm>
            <a:custGeom>
              <a:avLst/>
              <a:gdLst/>
              <a:ahLst/>
              <a:cxnLst/>
              <a:rect r="r" b="b" t="t" l="l"/>
              <a:pathLst>
                <a:path h="9525" w="11430000">
                  <a:moveTo>
                    <a:pt x="0" y="0"/>
                  </a:moveTo>
                  <a:lnTo>
                    <a:pt x="0" y="9525"/>
                  </a:lnTo>
                  <a:lnTo>
                    <a:pt x="11430000" y="95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58800" y="2654300"/>
              <a:ext cx="5133975" cy="2076450"/>
            </a:xfrm>
            <a:custGeom>
              <a:avLst/>
              <a:gdLst/>
              <a:ahLst/>
              <a:cxnLst/>
              <a:rect r="r" b="b" t="t" l="l"/>
              <a:pathLst>
                <a:path h="2076450" w="5133975">
                  <a:moveTo>
                    <a:pt x="0" y="1970151"/>
                  </a:moveTo>
                  <a:lnTo>
                    <a:pt x="0" y="106299"/>
                  </a:lnTo>
                  <a:cubicBezTo>
                    <a:pt x="0" y="99314"/>
                    <a:pt x="635" y="92456"/>
                    <a:pt x="2032" y="85598"/>
                  </a:cubicBezTo>
                  <a:cubicBezTo>
                    <a:pt x="3429" y="78740"/>
                    <a:pt x="5461" y="72136"/>
                    <a:pt x="8128" y="65659"/>
                  </a:cubicBezTo>
                  <a:cubicBezTo>
                    <a:pt x="10795" y="59182"/>
                    <a:pt x="14097" y="53086"/>
                    <a:pt x="17907" y="47244"/>
                  </a:cubicBezTo>
                  <a:cubicBezTo>
                    <a:pt x="21717" y="41402"/>
                    <a:pt x="26162" y="36068"/>
                    <a:pt x="31115" y="31115"/>
                  </a:cubicBezTo>
                  <a:cubicBezTo>
                    <a:pt x="36068" y="26162"/>
                    <a:pt x="41402" y="21717"/>
                    <a:pt x="47244" y="17907"/>
                  </a:cubicBezTo>
                  <a:cubicBezTo>
                    <a:pt x="53086" y="14097"/>
                    <a:pt x="59182" y="10795"/>
                    <a:pt x="65659" y="8128"/>
                  </a:cubicBezTo>
                  <a:cubicBezTo>
                    <a:pt x="72136" y="5461"/>
                    <a:pt x="78740" y="3429"/>
                    <a:pt x="85598" y="2032"/>
                  </a:cubicBezTo>
                  <a:cubicBezTo>
                    <a:pt x="92456" y="635"/>
                    <a:pt x="99314" y="0"/>
                    <a:pt x="106299" y="0"/>
                  </a:cubicBezTo>
                  <a:lnTo>
                    <a:pt x="5027676" y="0"/>
                  </a:lnTo>
                  <a:cubicBezTo>
                    <a:pt x="5034661" y="0"/>
                    <a:pt x="5041519" y="635"/>
                    <a:pt x="5048377" y="2032"/>
                  </a:cubicBezTo>
                  <a:cubicBezTo>
                    <a:pt x="5055235" y="3429"/>
                    <a:pt x="5061839" y="5461"/>
                    <a:pt x="5068316" y="8128"/>
                  </a:cubicBezTo>
                  <a:cubicBezTo>
                    <a:pt x="5074793" y="10795"/>
                    <a:pt x="5080889" y="14097"/>
                    <a:pt x="5086731" y="17907"/>
                  </a:cubicBezTo>
                  <a:cubicBezTo>
                    <a:pt x="5092573" y="21717"/>
                    <a:pt x="5097907" y="26162"/>
                    <a:pt x="5102860" y="31115"/>
                  </a:cubicBezTo>
                  <a:cubicBezTo>
                    <a:pt x="5107813" y="36068"/>
                    <a:pt x="5112258" y="41402"/>
                    <a:pt x="5116068" y="47244"/>
                  </a:cubicBezTo>
                  <a:cubicBezTo>
                    <a:pt x="5119878" y="53086"/>
                    <a:pt x="5123180" y="59182"/>
                    <a:pt x="5125847" y="65659"/>
                  </a:cubicBezTo>
                  <a:cubicBezTo>
                    <a:pt x="5128514" y="72136"/>
                    <a:pt x="5130546" y="78740"/>
                    <a:pt x="5131943" y="85598"/>
                  </a:cubicBezTo>
                  <a:cubicBezTo>
                    <a:pt x="5133340" y="92456"/>
                    <a:pt x="5133975" y="99314"/>
                    <a:pt x="5133975" y="106299"/>
                  </a:cubicBezTo>
                  <a:lnTo>
                    <a:pt x="5133975" y="1970151"/>
                  </a:lnTo>
                  <a:cubicBezTo>
                    <a:pt x="5133975" y="1977136"/>
                    <a:pt x="5133340" y="1983994"/>
                    <a:pt x="5131943" y="1990852"/>
                  </a:cubicBezTo>
                  <a:cubicBezTo>
                    <a:pt x="5130546" y="1997710"/>
                    <a:pt x="5128514" y="2004314"/>
                    <a:pt x="5125847" y="2010791"/>
                  </a:cubicBezTo>
                  <a:cubicBezTo>
                    <a:pt x="5123180" y="2017268"/>
                    <a:pt x="5119878" y="2023364"/>
                    <a:pt x="5116068" y="2029206"/>
                  </a:cubicBezTo>
                  <a:cubicBezTo>
                    <a:pt x="5112258" y="2035048"/>
                    <a:pt x="5107813" y="2040382"/>
                    <a:pt x="5102860" y="2045335"/>
                  </a:cubicBezTo>
                  <a:cubicBezTo>
                    <a:pt x="5097907" y="2050288"/>
                    <a:pt x="5092573" y="2054733"/>
                    <a:pt x="5086731" y="2058543"/>
                  </a:cubicBezTo>
                  <a:cubicBezTo>
                    <a:pt x="5080889" y="2062353"/>
                    <a:pt x="5074793" y="2065655"/>
                    <a:pt x="5068316" y="2068322"/>
                  </a:cubicBezTo>
                  <a:cubicBezTo>
                    <a:pt x="5061839" y="2070989"/>
                    <a:pt x="5055235" y="2073021"/>
                    <a:pt x="5048377" y="2074418"/>
                  </a:cubicBezTo>
                  <a:cubicBezTo>
                    <a:pt x="5041519" y="2075815"/>
                    <a:pt x="5034661" y="2076450"/>
                    <a:pt x="5027676" y="2076450"/>
                  </a:cubicBezTo>
                  <a:lnTo>
                    <a:pt x="106299" y="2076450"/>
                  </a:lnTo>
                  <a:cubicBezTo>
                    <a:pt x="99314" y="2076450"/>
                    <a:pt x="92456" y="2075815"/>
                    <a:pt x="85598" y="2074418"/>
                  </a:cubicBezTo>
                  <a:cubicBezTo>
                    <a:pt x="78740" y="2073021"/>
                    <a:pt x="72136" y="2070989"/>
                    <a:pt x="65659" y="2068322"/>
                  </a:cubicBezTo>
                  <a:cubicBezTo>
                    <a:pt x="59182" y="2065655"/>
                    <a:pt x="53086" y="2062353"/>
                    <a:pt x="47244" y="2058543"/>
                  </a:cubicBezTo>
                  <a:cubicBezTo>
                    <a:pt x="41402" y="2054733"/>
                    <a:pt x="36068" y="2050288"/>
                    <a:pt x="31115" y="2045335"/>
                  </a:cubicBezTo>
                  <a:cubicBezTo>
                    <a:pt x="26162" y="2040382"/>
                    <a:pt x="21717" y="2035048"/>
                    <a:pt x="17907" y="2029206"/>
                  </a:cubicBezTo>
                  <a:cubicBezTo>
                    <a:pt x="14097" y="2023364"/>
                    <a:pt x="10795" y="2017268"/>
                    <a:pt x="8128" y="2010791"/>
                  </a:cubicBezTo>
                  <a:cubicBezTo>
                    <a:pt x="5461" y="2004314"/>
                    <a:pt x="3429" y="1997710"/>
                    <a:pt x="2032" y="1990852"/>
                  </a:cubicBezTo>
                  <a:cubicBezTo>
                    <a:pt x="635" y="1983994"/>
                    <a:pt x="0" y="1977136"/>
                    <a:pt x="0" y="1970151"/>
                  </a:cubicBezTo>
                  <a:close/>
                </a:path>
              </a:pathLst>
            </a:custGeom>
            <a:solidFill>
              <a:srgbClr val="1A6B5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04705" y="2799020"/>
            <a:ext cx="12173464" cy="96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1"/>
              </a:lnSpc>
            </a:pPr>
            <a:r>
              <a:rPr lang="en-US" b="true" sz="55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Iterative Deepening e Move Ordering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1083" y="4387750"/>
            <a:ext cx="7778841" cy="251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8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Iterative Deepening</a:t>
            </a:r>
          </a:p>
          <a:p>
            <a:pPr algn="l">
              <a:lnSpc>
                <a:spcPts val="3514"/>
              </a:lnSpc>
            </a:pPr>
            <a:r>
              <a:rPr lang="en-US" sz="222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Orçamento fixo de </a:t>
            </a:r>
            <a:r>
              <a:rPr lang="en-US" b="true" sz="222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0,5s</a:t>
            </a:r>
            <a:r>
              <a:rPr lang="en-US" sz="222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por jogada. Busca com profundidade crescente d = 1, 2, 3… Timeout retorna melhor lance da última iteração completa. Comportamento </a:t>
            </a:r>
          </a:p>
          <a:p>
            <a:pPr algn="l">
              <a:lnSpc>
                <a:spcPts val="3833"/>
              </a:lnSpc>
            </a:pPr>
            <a:r>
              <a:rPr lang="en-US" sz="2228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anytime</a:t>
            </a:r>
            <a:r>
              <a:rPr lang="en-US" sz="222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sempre tem lance válido.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04454" y="4387750"/>
            <a:ext cx="7981208" cy="277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Ordenação de Jogadas</a:t>
            </a:r>
          </a:p>
          <a:p>
            <a:pPr algn="l">
              <a:lnSpc>
                <a:spcPts val="351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Para cada lance legal: simula → avalia com </a:t>
            </a:r>
            <a:r>
              <a:rPr lang="en-US" b="true" sz="222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corner_heuristic O(1)</a:t>
            </a: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verificando 4 cantos. Ordena filhos: decrescente para MAX, crescente para MIN.</a:t>
            </a:r>
          </a:p>
          <a:p>
            <a:pPr algn="l">
              <a:lnSpc>
                <a:spcPts val="5571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Resultado: amplifica podas significativamente.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7852"/>
            <a:ext cx="18260082" cy="10271296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959" y="7852"/>
            <a:ext cx="18260082" cy="10271296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04682" y="888881"/>
            <a:ext cx="13744250" cy="81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499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Funções Heurísticas — Notação Matemática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4682" y="2105563"/>
            <a:ext cx="16278635" cy="44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199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Três funções de utilidade </a:t>
            </a:r>
            <a:r>
              <a:rPr lang="en-US" sz="1996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U</a:t>
            </a:r>
            <a:r>
              <a:rPr lang="en-US" sz="199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para estados não terminais, com notação matemática formal: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0417" y="2793675"/>
            <a:ext cx="5301786" cy="6599517"/>
            <a:chOff x="0" y="0"/>
            <a:chExt cx="7079856" cy="88128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050" y="19050"/>
              <a:ext cx="7041769" cy="8774685"/>
            </a:xfrm>
            <a:custGeom>
              <a:avLst/>
              <a:gdLst/>
              <a:ahLst/>
              <a:cxnLst/>
              <a:rect r="r" b="b" t="t" l="l"/>
              <a:pathLst>
                <a:path h="8774685" w="7041769">
                  <a:moveTo>
                    <a:pt x="0" y="143002"/>
                  </a:moveTo>
                  <a:cubicBezTo>
                    <a:pt x="0" y="64008"/>
                    <a:pt x="64008" y="0"/>
                    <a:pt x="142875" y="0"/>
                  </a:cubicBezTo>
                  <a:lnTo>
                    <a:pt x="6898894" y="0"/>
                  </a:lnTo>
                  <a:cubicBezTo>
                    <a:pt x="6977761" y="0"/>
                    <a:pt x="7041769" y="64008"/>
                    <a:pt x="7041769" y="143002"/>
                  </a:cubicBezTo>
                  <a:lnTo>
                    <a:pt x="7041769" y="8631682"/>
                  </a:lnTo>
                  <a:cubicBezTo>
                    <a:pt x="7041769" y="8710676"/>
                    <a:pt x="6977761" y="8774685"/>
                    <a:pt x="6898894" y="8774685"/>
                  </a:cubicBezTo>
                  <a:lnTo>
                    <a:pt x="142875" y="8774685"/>
                  </a:lnTo>
                  <a:cubicBezTo>
                    <a:pt x="64008" y="8774685"/>
                    <a:pt x="0" y="8710676"/>
                    <a:pt x="0" y="863168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79869" cy="8812785"/>
            </a:xfrm>
            <a:custGeom>
              <a:avLst/>
              <a:gdLst/>
              <a:ahLst/>
              <a:cxnLst/>
              <a:rect r="r" b="b" t="t" l="l"/>
              <a:pathLst>
                <a:path h="8812785" w="7079869">
                  <a:moveTo>
                    <a:pt x="0" y="162052"/>
                  </a:moveTo>
                  <a:cubicBezTo>
                    <a:pt x="0" y="72644"/>
                    <a:pt x="72517" y="0"/>
                    <a:pt x="161925" y="0"/>
                  </a:cubicBezTo>
                  <a:lnTo>
                    <a:pt x="6917944" y="0"/>
                  </a:lnTo>
                  <a:lnTo>
                    <a:pt x="6917944" y="19050"/>
                  </a:lnTo>
                  <a:lnTo>
                    <a:pt x="6917944" y="0"/>
                  </a:lnTo>
                  <a:cubicBezTo>
                    <a:pt x="7007351" y="0"/>
                    <a:pt x="7079869" y="72644"/>
                    <a:pt x="7079869" y="162052"/>
                  </a:cubicBezTo>
                  <a:lnTo>
                    <a:pt x="7060819" y="162052"/>
                  </a:lnTo>
                  <a:lnTo>
                    <a:pt x="7079869" y="162052"/>
                  </a:lnTo>
                  <a:lnTo>
                    <a:pt x="7079869" y="8650732"/>
                  </a:lnTo>
                  <a:lnTo>
                    <a:pt x="7060819" y="8650732"/>
                  </a:lnTo>
                  <a:lnTo>
                    <a:pt x="7079869" y="8650732"/>
                  </a:lnTo>
                  <a:cubicBezTo>
                    <a:pt x="7079869" y="8740267"/>
                    <a:pt x="7007351" y="8812785"/>
                    <a:pt x="6917944" y="8812785"/>
                  </a:cubicBezTo>
                  <a:lnTo>
                    <a:pt x="6917944" y="8793735"/>
                  </a:lnTo>
                  <a:lnTo>
                    <a:pt x="6917944" y="8812785"/>
                  </a:lnTo>
                  <a:lnTo>
                    <a:pt x="161925" y="8812785"/>
                  </a:lnTo>
                  <a:lnTo>
                    <a:pt x="161925" y="8793735"/>
                  </a:lnTo>
                  <a:lnTo>
                    <a:pt x="161925" y="8812785"/>
                  </a:lnTo>
                  <a:cubicBezTo>
                    <a:pt x="72517" y="8812784"/>
                    <a:pt x="0" y="8740267"/>
                    <a:pt x="0" y="8650732"/>
                  </a:cubicBezTo>
                  <a:lnTo>
                    <a:pt x="0" y="162052"/>
                  </a:lnTo>
                  <a:lnTo>
                    <a:pt x="19050" y="162052"/>
                  </a:lnTo>
                  <a:lnTo>
                    <a:pt x="0" y="162052"/>
                  </a:lnTo>
                  <a:moveTo>
                    <a:pt x="38100" y="162052"/>
                  </a:moveTo>
                  <a:lnTo>
                    <a:pt x="38100" y="8650732"/>
                  </a:lnTo>
                  <a:lnTo>
                    <a:pt x="19050" y="8650732"/>
                  </a:lnTo>
                  <a:lnTo>
                    <a:pt x="38100" y="8650732"/>
                  </a:lnTo>
                  <a:cubicBezTo>
                    <a:pt x="38100" y="8719186"/>
                    <a:pt x="93599" y="8774685"/>
                    <a:pt x="161925" y="8774685"/>
                  </a:cubicBezTo>
                  <a:lnTo>
                    <a:pt x="6917944" y="8774685"/>
                  </a:lnTo>
                  <a:cubicBezTo>
                    <a:pt x="6986270" y="8774685"/>
                    <a:pt x="7041769" y="8719186"/>
                    <a:pt x="7041769" y="8650732"/>
                  </a:cubicBezTo>
                  <a:lnTo>
                    <a:pt x="7041769" y="162052"/>
                  </a:lnTo>
                  <a:cubicBezTo>
                    <a:pt x="7041769" y="93599"/>
                    <a:pt x="6986270" y="38100"/>
                    <a:pt x="6917944" y="38100"/>
                  </a:cubicBezTo>
                  <a:lnTo>
                    <a:pt x="161925" y="38100"/>
                  </a:lnTo>
                  <a:lnTo>
                    <a:pt x="161925" y="19050"/>
                  </a:lnTo>
                  <a:lnTo>
                    <a:pt x="161925" y="38100"/>
                  </a:lnTo>
                  <a:cubicBezTo>
                    <a:pt x="93599" y="38100"/>
                    <a:pt x="38100" y="93599"/>
                    <a:pt x="38100" y="162052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87913" y="3081646"/>
            <a:ext cx="4706784" cy="80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96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4.1 Controle de Cantos (Corner)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7913" y="3967387"/>
            <a:ext cx="4706784" cy="1606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199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Cantos </a:t>
            </a:r>
            <a:r>
              <a:rPr lang="en-US" sz="1996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 = {(1,1), (1,8), (8,1), (8,8)}</a:t>
            </a:r>
            <a:r>
              <a:rPr lang="en-US" sz="199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discos estáveis, não podem ser flanqueados. </a:t>
            </a:r>
            <a:r>
              <a:rPr lang="en-US" sz="1996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sz="199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é a função indicadora de posse: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87913" y="5863765"/>
            <a:ext cx="4706784" cy="1779940"/>
            <a:chOff x="0" y="0"/>
            <a:chExt cx="6285306" cy="2376881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6285357" cy="2376932"/>
            </a:xfrm>
            <a:custGeom>
              <a:avLst/>
              <a:gdLst/>
              <a:ahLst/>
              <a:cxnLst/>
              <a:rect r="r" b="b" t="t" l="l"/>
              <a:pathLst>
                <a:path h="2376932" w="6285357">
                  <a:moveTo>
                    <a:pt x="0" y="0"/>
                  </a:moveTo>
                  <a:lnTo>
                    <a:pt x="6285357" y="0"/>
                  </a:lnTo>
                  <a:lnTo>
                    <a:pt x="6285357" y="2376932"/>
                  </a:lnTo>
                  <a:lnTo>
                    <a:pt x="0" y="2376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15" r="0" b="-213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87913" y="7876776"/>
            <a:ext cx="4706784" cy="121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199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Estratégia mais forte no Othello. Estabiliza bordas inteiras a partir dos cantos.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92959" y="2793675"/>
            <a:ext cx="5301929" cy="6599517"/>
            <a:chOff x="0" y="0"/>
            <a:chExt cx="7080047" cy="88128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9050" y="19050"/>
              <a:ext cx="7041896" cy="8774685"/>
            </a:xfrm>
            <a:custGeom>
              <a:avLst/>
              <a:gdLst/>
              <a:ahLst/>
              <a:cxnLst/>
              <a:rect r="r" b="b" t="t" l="l"/>
              <a:pathLst>
                <a:path h="8774685" w="7041896">
                  <a:moveTo>
                    <a:pt x="0" y="143002"/>
                  </a:moveTo>
                  <a:cubicBezTo>
                    <a:pt x="0" y="64008"/>
                    <a:pt x="64008" y="0"/>
                    <a:pt x="142875" y="0"/>
                  </a:cubicBezTo>
                  <a:lnTo>
                    <a:pt x="6899021" y="0"/>
                  </a:lnTo>
                  <a:cubicBezTo>
                    <a:pt x="6977888" y="0"/>
                    <a:pt x="7041896" y="64008"/>
                    <a:pt x="7041896" y="143002"/>
                  </a:cubicBezTo>
                  <a:lnTo>
                    <a:pt x="7041896" y="8631682"/>
                  </a:lnTo>
                  <a:cubicBezTo>
                    <a:pt x="7041896" y="8710676"/>
                    <a:pt x="6977888" y="8774685"/>
                    <a:pt x="6899021" y="8774685"/>
                  </a:cubicBezTo>
                  <a:lnTo>
                    <a:pt x="142875" y="8774685"/>
                  </a:lnTo>
                  <a:cubicBezTo>
                    <a:pt x="64008" y="8774685"/>
                    <a:pt x="0" y="8710676"/>
                    <a:pt x="0" y="863168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79996" cy="8812785"/>
            </a:xfrm>
            <a:custGeom>
              <a:avLst/>
              <a:gdLst/>
              <a:ahLst/>
              <a:cxnLst/>
              <a:rect r="r" b="b" t="t" l="l"/>
              <a:pathLst>
                <a:path h="8812785" w="7079996">
                  <a:moveTo>
                    <a:pt x="0" y="162052"/>
                  </a:moveTo>
                  <a:cubicBezTo>
                    <a:pt x="0" y="72644"/>
                    <a:pt x="72517" y="0"/>
                    <a:pt x="161925" y="0"/>
                  </a:cubicBezTo>
                  <a:lnTo>
                    <a:pt x="6918071" y="0"/>
                  </a:lnTo>
                  <a:lnTo>
                    <a:pt x="6918071" y="19050"/>
                  </a:lnTo>
                  <a:lnTo>
                    <a:pt x="6918071" y="0"/>
                  </a:lnTo>
                  <a:cubicBezTo>
                    <a:pt x="7007478" y="0"/>
                    <a:pt x="7079996" y="72644"/>
                    <a:pt x="7079996" y="162052"/>
                  </a:cubicBezTo>
                  <a:lnTo>
                    <a:pt x="7060946" y="162052"/>
                  </a:lnTo>
                  <a:lnTo>
                    <a:pt x="7079996" y="162052"/>
                  </a:lnTo>
                  <a:lnTo>
                    <a:pt x="7079996" y="8650732"/>
                  </a:lnTo>
                  <a:lnTo>
                    <a:pt x="7060946" y="8650732"/>
                  </a:lnTo>
                  <a:lnTo>
                    <a:pt x="7079996" y="8650732"/>
                  </a:lnTo>
                  <a:cubicBezTo>
                    <a:pt x="7079996" y="8740267"/>
                    <a:pt x="7007478" y="8812785"/>
                    <a:pt x="6918071" y="8812785"/>
                  </a:cubicBezTo>
                  <a:lnTo>
                    <a:pt x="6918071" y="8793735"/>
                  </a:lnTo>
                  <a:lnTo>
                    <a:pt x="6918071" y="8812785"/>
                  </a:lnTo>
                  <a:lnTo>
                    <a:pt x="161925" y="8812785"/>
                  </a:lnTo>
                  <a:lnTo>
                    <a:pt x="161925" y="8793735"/>
                  </a:lnTo>
                  <a:lnTo>
                    <a:pt x="161925" y="8812785"/>
                  </a:lnTo>
                  <a:cubicBezTo>
                    <a:pt x="72517" y="8812784"/>
                    <a:pt x="0" y="8740267"/>
                    <a:pt x="0" y="8650732"/>
                  </a:cubicBezTo>
                  <a:lnTo>
                    <a:pt x="0" y="162052"/>
                  </a:lnTo>
                  <a:lnTo>
                    <a:pt x="19050" y="162052"/>
                  </a:lnTo>
                  <a:lnTo>
                    <a:pt x="0" y="162052"/>
                  </a:lnTo>
                  <a:moveTo>
                    <a:pt x="38100" y="162052"/>
                  </a:moveTo>
                  <a:lnTo>
                    <a:pt x="38100" y="8650732"/>
                  </a:lnTo>
                  <a:lnTo>
                    <a:pt x="19050" y="8650732"/>
                  </a:lnTo>
                  <a:lnTo>
                    <a:pt x="38100" y="8650732"/>
                  </a:lnTo>
                  <a:cubicBezTo>
                    <a:pt x="38100" y="8719186"/>
                    <a:pt x="93599" y="8774685"/>
                    <a:pt x="161925" y="8774685"/>
                  </a:cubicBezTo>
                  <a:lnTo>
                    <a:pt x="6918071" y="8774685"/>
                  </a:lnTo>
                  <a:cubicBezTo>
                    <a:pt x="6986397" y="8774685"/>
                    <a:pt x="7041896" y="8719186"/>
                    <a:pt x="7041896" y="8650732"/>
                  </a:cubicBezTo>
                  <a:lnTo>
                    <a:pt x="7041896" y="162052"/>
                  </a:lnTo>
                  <a:cubicBezTo>
                    <a:pt x="7041896" y="93599"/>
                    <a:pt x="6986397" y="38100"/>
                    <a:pt x="6918071" y="38100"/>
                  </a:cubicBezTo>
                  <a:lnTo>
                    <a:pt x="161925" y="38100"/>
                  </a:lnTo>
                  <a:lnTo>
                    <a:pt x="161925" y="19050"/>
                  </a:lnTo>
                  <a:lnTo>
                    <a:pt x="161925" y="38100"/>
                  </a:lnTo>
                  <a:cubicBezTo>
                    <a:pt x="93599" y="38100"/>
                    <a:pt x="38100" y="93599"/>
                    <a:pt x="38100" y="162052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790456" y="3081646"/>
            <a:ext cx="3184815" cy="40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96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4.2 Mobilidade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90456" y="3569432"/>
            <a:ext cx="4706936" cy="83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199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Diferença de cardinalidade dos conjuntos de ações válidas: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790456" y="4691306"/>
            <a:ext cx="4706936" cy="889228"/>
            <a:chOff x="0" y="0"/>
            <a:chExt cx="6285509" cy="118745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6285484" cy="1187450"/>
            </a:xfrm>
            <a:custGeom>
              <a:avLst/>
              <a:gdLst/>
              <a:ahLst/>
              <a:cxnLst/>
              <a:rect r="r" b="b" t="t" l="l"/>
              <a:pathLst>
                <a:path h="1187450" w="6285484">
                  <a:moveTo>
                    <a:pt x="0" y="0"/>
                  </a:moveTo>
                  <a:lnTo>
                    <a:pt x="6285484" y="0"/>
                  </a:lnTo>
                  <a:lnTo>
                    <a:pt x="6285484" y="1187450"/>
                  </a:lnTo>
                  <a:lnTo>
                    <a:pt x="0" y="1187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9" r="0" b="-258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790456" y="5813605"/>
            <a:ext cx="4706936" cy="121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199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Busca "sufocar" o oponente. Problema: métrica ruidosa, flutua rapidamente.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995654" y="2793675"/>
            <a:ext cx="5301929" cy="6599517"/>
            <a:chOff x="0" y="0"/>
            <a:chExt cx="7080047" cy="881280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9050" y="19050"/>
              <a:ext cx="7041896" cy="8774685"/>
            </a:xfrm>
            <a:custGeom>
              <a:avLst/>
              <a:gdLst/>
              <a:ahLst/>
              <a:cxnLst/>
              <a:rect r="r" b="b" t="t" l="l"/>
              <a:pathLst>
                <a:path h="8774685" w="7041896">
                  <a:moveTo>
                    <a:pt x="0" y="143002"/>
                  </a:moveTo>
                  <a:cubicBezTo>
                    <a:pt x="0" y="64008"/>
                    <a:pt x="64008" y="0"/>
                    <a:pt x="142875" y="0"/>
                  </a:cubicBezTo>
                  <a:lnTo>
                    <a:pt x="6899021" y="0"/>
                  </a:lnTo>
                  <a:cubicBezTo>
                    <a:pt x="6977888" y="0"/>
                    <a:pt x="7041896" y="64008"/>
                    <a:pt x="7041896" y="143002"/>
                  </a:cubicBezTo>
                  <a:lnTo>
                    <a:pt x="7041896" y="8631682"/>
                  </a:lnTo>
                  <a:cubicBezTo>
                    <a:pt x="7041896" y="8710676"/>
                    <a:pt x="6977888" y="8774685"/>
                    <a:pt x="6899021" y="8774685"/>
                  </a:cubicBezTo>
                  <a:lnTo>
                    <a:pt x="142875" y="8774685"/>
                  </a:lnTo>
                  <a:cubicBezTo>
                    <a:pt x="64008" y="8774685"/>
                    <a:pt x="0" y="8710676"/>
                    <a:pt x="0" y="863168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79996" cy="8812785"/>
            </a:xfrm>
            <a:custGeom>
              <a:avLst/>
              <a:gdLst/>
              <a:ahLst/>
              <a:cxnLst/>
              <a:rect r="r" b="b" t="t" l="l"/>
              <a:pathLst>
                <a:path h="8812785" w="7079996">
                  <a:moveTo>
                    <a:pt x="0" y="162052"/>
                  </a:moveTo>
                  <a:cubicBezTo>
                    <a:pt x="0" y="72644"/>
                    <a:pt x="72517" y="0"/>
                    <a:pt x="161925" y="0"/>
                  </a:cubicBezTo>
                  <a:lnTo>
                    <a:pt x="6918071" y="0"/>
                  </a:lnTo>
                  <a:lnTo>
                    <a:pt x="6918071" y="19050"/>
                  </a:lnTo>
                  <a:lnTo>
                    <a:pt x="6918071" y="0"/>
                  </a:lnTo>
                  <a:cubicBezTo>
                    <a:pt x="7007478" y="0"/>
                    <a:pt x="7079996" y="72644"/>
                    <a:pt x="7079996" y="162052"/>
                  </a:cubicBezTo>
                  <a:lnTo>
                    <a:pt x="7060946" y="162052"/>
                  </a:lnTo>
                  <a:lnTo>
                    <a:pt x="7079996" y="162052"/>
                  </a:lnTo>
                  <a:lnTo>
                    <a:pt x="7079996" y="8650732"/>
                  </a:lnTo>
                  <a:lnTo>
                    <a:pt x="7060946" y="8650732"/>
                  </a:lnTo>
                  <a:lnTo>
                    <a:pt x="7079996" y="8650732"/>
                  </a:lnTo>
                  <a:cubicBezTo>
                    <a:pt x="7079996" y="8740267"/>
                    <a:pt x="7007478" y="8812785"/>
                    <a:pt x="6918071" y="8812785"/>
                  </a:cubicBezTo>
                  <a:lnTo>
                    <a:pt x="6918071" y="8793735"/>
                  </a:lnTo>
                  <a:lnTo>
                    <a:pt x="6918071" y="8812785"/>
                  </a:lnTo>
                  <a:lnTo>
                    <a:pt x="161925" y="8812785"/>
                  </a:lnTo>
                  <a:lnTo>
                    <a:pt x="161925" y="8793735"/>
                  </a:lnTo>
                  <a:lnTo>
                    <a:pt x="161925" y="8812785"/>
                  </a:lnTo>
                  <a:cubicBezTo>
                    <a:pt x="72517" y="8812784"/>
                    <a:pt x="0" y="8740267"/>
                    <a:pt x="0" y="8650732"/>
                  </a:cubicBezTo>
                  <a:lnTo>
                    <a:pt x="0" y="162052"/>
                  </a:lnTo>
                  <a:lnTo>
                    <a:pt x="19050" y="162052"/>
                  </a:lnTo>
                  <a:lnTo>
                    <a:pt x="0" y="162052"/>
                  </a:lnTo>
                  <a:moveTo>
                    <a:pt x="38100" y="162052"/>
                  </a:moveTo>
                  <a:lnTo>
                    <a:pt x="38100" y="8650732"/>
                  </a:lnTo>
                  <a:lnTo>
                    <a:pt x="19050" y="8650732"/>
                  </a:lnTo>
                  <a:lnTo>
                    <a:pt x="38100" y="8650732"/>
                  </a:lnTo>
                  <a:cubicBezTo>
                    <a:pt x="38100" y="8719186"/>
                    <a:pt x="93599" y="8774685"/>
                    <a:pt x="161925" y="8774685"/>
                  </a:cubicBezTo>
                  <a:lnTo>
                    <a:pt x="6918071" y="8774685"/>
                  </a:lnTo>
                  <a:cubicBezTo>
                    <a:pt x="6986397" y="8774685"/>
                    <a:pt x="7041896" y="8719186"/>
                    <a:pt x="7041896" y="8650732"/>
                  </a:cubicBezTo>
                  <a:lnTo>
                    <a:pt x="7041896" y="162052"/>
                  </a:lnTo>
                  <a:cubicBezTo>
                    <a:pt x="7041896" y="93599"/>
                    <a:pt x="6986397" y="38100"/>
                    <a:pt x="6918071" y="38100"/>
                  </a:cubicBezTo>
                  <a:lnTo>
                    <a:pt x="161925" y="38100"/>
                  </a:lnTo>
                  <a:lnTo>
                    <a:pt x="161925" y="19050"/>
                  </a:lnTo>
                  <a:lnTo>
                    <a:pt x="161925" y="38100"/>
                  </a:lnTo>
                  <a:cubicBezTo>
                    <a:pt x="93599" y="38100"/>
                    <a:pt x="38100" y="93599"/>
                    <a:pt x="38100" y="162052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293151" y="3081646"/>
            <a:ext cx="3575781" cy="40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96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4.3 Discos de Fronteira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93151" y="3569432"/>
            <a:ext cx="4706936" cy="121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199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Disco adjacente a célula vazia = vulnerável. </a:t>
            </a:r>
            <a:r>
              <a:rPr lang="en-US" sz="1996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F(s, x)</a:t>
            </a:r>
            <a:r>
              <a:rPr lang="en-US" sz="199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= total de discos de fronteira: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293151" y="5078563"/>
            <a:ext cx="4706936" cy="889228"/>
            <a:chOff x="0" y="0"/>
            <a:chExt cx="6285509" cy="118745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6285484" cy="1187450"/>
            </a:xfrm>
            <a:custGeom>
              <a:avLst/>
              <a:gdLst/>
              <a:ahLst/>
              <a:cxnLst/>
              <a:rect r="r" b="b" t="t" l="l"/>
              <a:pathLst>
                <a:path h="1187450" w="6285484">
                  <a:moveTo>
                    <a:pt x="0" y="0"/>
                  </a:moveTo>
                  <a:lnTo>
                    <a:pt x="6285484" y="0"/>
                  </a:lnTo>
                  <a:lnTo>
                    <a:pt x="6285484" y="1187450"/>
                  </a:lnTo>
                  <a:lnTo>
                    <a:pt x="0" y="1187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9" r="0" b="-258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293151" y="6200862"/>
            <a:ext cx="4706936" cy="83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199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Defensiva: minimiza própria fronteira, maximiza do adversário.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491" y="-101450"/>
            <a:ext cx="18462967" cy="10489398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3025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29375"/>
                  </a:lnTo>
                  <a:lnTo>
                    <a:pt x="0" y="64293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9525"/>
            </a:xfrm>
            <a:custGeom>
              <a:avLst/>
              <a:gdLst/>
              <a:ahLst/>
              <a:cxnLst/>
              <a:rect r="r" b="b" t="t" l="l"/>
              <a:pathLst>
                <a:path h="9525" w="11430000">
                  <a:moveTo>
                    <a:pt x="0" y="0"/>
                  </a:moveTo>
                  <a:lnTo>
                    <a:pt x="0" y="9525"/>
                  </a:lnTo>
                  <a:lnTo>
                    <a:pt x="11430000" y="95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04705" y="1489220"/>
            <a:ext cx="10214644" cy="47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b="true" sz="55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Setup do Torneio Experimental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35488" y="2273461"/>
            <a:ext cx="81196" cy="61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1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65253" y="5773659"/>
            <a:ext cx="3719716" cy="38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Alternando pretas e brancas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67024" y="8832223"/>
            <a:ext cx="6980114" cy="38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Viés das brancas: vantagem posicional do 2º jogador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63424" y="5773659"/>
            <a:ext cx="3144356" cy="38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vs. 848 vitórias brancas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15282" y="8832223"/>
            <a:ext cx="4466873" cy="38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Por jogada, profundidade máx. 64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4705" y="2463961"/>
            <a:ext cx="16507099" cy="88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Torneio</a:t>
            </a:r>
            <a:r>
              <a:rPr lang="en-US" b="true" sz="222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automatizado </a:t>
            </a: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 7 agentes: minimax e alpha-beta combinados com corner, frontier e mobility, mais um agente random como baseline.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5253" y="3509074"/>
            <a:ext cx="3313615" cy="2006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9"/>
              </a:lnSpc>
            </a:pPr>
            <a:r>
              <a:rPr lang="en-US" b="true" sz="739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1568</a:t>
            </a:r>
          </a:p>
          <a:p>
            <a:pPr algn="ctr">
              <a:lnSpc>
                <a:spcPts val="5591"/>
              </a:lnSpc>
            </a:pPr>
            <a:r>
              <a:rPr lang="en-US" b="true" sz="399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Jogos Totais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5253" y="6445904"/>
            <a:ext cx="3313615" cy="2006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9"/>
              </a:lnSpc>
            </a:pPr>
            <a:r>
              <a:rPr lang="en-US" b="true" sz="739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42</a:t>
            </a:r>
          </a:p>
          <a:p>
            <a:pPr algn="ctr">
              <a:lnSpc>
                <a:spcPts val="5591"/>
              </a:lnSpc>
            </a:pPr>
            <a:r>
              <a:rPr lang="en-US" b="true" sz="399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Empates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55630" y="3509074"/>
            <a:ext cx="3786177" cy="2006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9"/>
              </a:lnSpc>
            </a:pPr>
            <a:r>
              <a:rPr lang="en-US" b="true" sz="739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678</a:t>
            </a:r>
          </a:p>
          <a:p>
            <a:pPr algn="ctr">
              <a:lnSpc>
                <a:spcPts val="5591"/>
              </a:lnSpc>
            </a:pPr>
            <a:r>
              <a:rPr lang="en-US" b="true" sz="399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Vitórias Pretas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94164" y="6445904"/>
            <a:ext cx="3313615" cy="2006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9"/>
              </a:lnSpc>
            </a:pPr>
            <a:r>
              <a:rPr lang="en-US" b="true" sz="739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0,5s</a:t>
            </a:r>
          </a:p>
          <a:p>
            <a:pPr algn="ctr">
              <a:lnSpc>
                <a:spcPts val="5591"/>
              </a:lnSpc>
            </a:pPr>
            <a:r>
              <a:rPr lang="en-US" b="true" sz="399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Orçamento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8926" y="-101450"/>
            <a:ext cx="18462967" cy="10489398"/>
          </a:xfrm>
          <a:custGeom>
            <a:avLst/>
            <a:gdLst/>
            <a:ahLst/>
            <a:cxnLst/>
            <a:rect r="r" b="b" t="t" l="l"/>
            <a:pathLst>
              <a:path h="10489398" w="18462967">
                <a:moveTo>
                  <a:pt x="0" y="0"/>
                </a:moveTo>
                <a:lnTo>
                  <a:pt x="18462967" y="0"/>
                </a:lnTo>
                <a:lnTo>
                  <a:pt x="18462967" y="10489398"/>
                </a:lnTo>
                <a:lnTo>
                  <a:pt x="0" y="10489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8189" y="4449462"/>
            <a:ext cx="7727062" cy="4085684"/>
          </a:xfrm>
          <a:custGeom>
            <a:avLst/>
            <a:gdLst/>
            <a:ahLst/>
            <a:cxnLst/>
            <a:rect r="r" b="b" t="t" l="l"/>
            <a:pathLst>
              <a:path h="4085684" w="7727062">
                <a:moveTo>
                  <a:pt x="0" y="0"/>
                </a:moveTo>
                <a:lnTo>
                  <a:pt x="7727062" y="0"/>
                </a:lnTo>
                <a:lnTo>
                  <a:pt x="7727062" y="4085684"/>
                </a:lnTo>
                <a:lnTo>
                  <a:pt x="0" y="4085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29062" y="3214768"/>
            <a:ext cx="1433386" cy="619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0"/>
              </a:lnSpc>
            </a:pPr>
            <a:r>
              <a:rPr lang="en-US" b="true" sz="362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73,9</a:t>
            </a:r>
            <a:r>
              <a:rPr lang="en-US" b="true" sz="362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362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%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4705" y="1019958"/>
            <a:ext cx="11027294" cy="486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b="true" sz="362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Resultados — Minimax vs Alpha-Beta e Heurísticas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6535" y="1579574"/>
            <a:ext cx="55541" cy="505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6"/>
              </a:lnSpc>
            </a:pPr>
            <a:r>
              <a:rPr lang="en-US" b="true" sz="18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7861" y="6471150"/>
            <a:ext cx="1387127" cy="619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0"/>
              </a:lnSpc>
            </a:pPr>
            <a:r>
              <a:rPr lang="en-US" b="true" sz="362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19,4%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48654" y="3214768"/>
            <a:ext cx="1458813" cy="619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0"/>
              </a:lnSpc>
            </a:pPr>
            <a:r>
              <a:rPr lang="en-US" b="true" sz="362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54,5%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4705" y="1646249"/>
            <a:ext cx="5510680" cy="438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4"/>
              </a:lnSpc>
            </a:pPr>
            <a:r>
              <a:rPr lang="en-US" b="true" sz="18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Alpha-Beta:</a:t>
            </a:r>
            <a:r>
              <a:rPr lang="en-US" b="true" sz="18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8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mesma</a:t>
            </a:r>
            <a:r>
              <a:rPr lang="en-US" b="true" sz="18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8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qualidade,</a:t>
            </a:r>
            <a:r>
              <a:rPr lang="en-US" b="true" sz="18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8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maior</a:t>
            </a:r>
            <a:r>
              <a:rPr lang="en-US" b="true" sz="18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8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profundidade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22162" y="2133185"/>
            <a:ext cx="727269" cy="438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4"/>
              </a:lnSpc>
            </a:pPr>
            <a:r>
              <a:rPr lang="en-US" b="true" sz="181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56,2%</a:t>
            </a:r>
            <a:r>
              <a:rPr lang="en-US" b="true" sz="18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44843" y="2133185"/>
            <a:ext cx="737007" cy="438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4"/>
              </a:lnSpc>
            </a:pPr>
            <a:r>
              <a:rPr lang="en-US" b="true" sz="181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30,8%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4705" y="2654503"/>
            <a:ext cx="2098160" cy="343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b="true" sz="181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Corner: +1,12 níveis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36668" y="2654503"/>
            <a:ext cx="2254709" cy="343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b="true" sz="181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Frontier: +0,61 níveis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11088" y="3101248"/>
            <a:ext cx="636577" cy="505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6"/>
              </a:lnSpc>
            </a:pPr>
            <a:r>
              <a:rPr lang="en-US" b="true" sz="181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11,3%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4705" y="3755916"/>
            <a:ext cx="2347912" cy="27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b="true" sz="181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Mobility: +0,64 níveis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83664" y="1770074"/>
            <a:ext cx="2542306" cy="314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b="true" sz="18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Win</a:t>
            </a:r>
            <a:r>
              <a:rPr lang="en-US" b="true" sz="18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8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Rate</a:t>
            </a:r>
            <a:r>
              <a:rPr lang="en-US" b="true" sz="18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8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por</a:t>
            </a:r>
            <a:r>
              <a:rPr lang="en-US" b="true" sz="18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8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Heurística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70378" y="4919938"/>
            <a:ext cx="1954209" cy="314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b="true" sz="181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alphabeta+corner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30122" y="8176320"/>
            <a:ext cx="844924" cy="314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b="true" sz="181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random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39180" y="4919938"/>
            <a:ext cx="1879206" cy="314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b="true" sz="181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minimax+frontier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02206" y="8923628"/>
            <a:ext cx="9394112" cy="252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b="true" sz="144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Insight-chave:</a:t>
            </a:r>
            <a:r>
              <a:rPr lang="en-US" sz="14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Qualidade da heurística domina profundidade adicional. Corner domina todas as combinações.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7491" y="-101450"/>
            <a:ext cx="18462967" cy="10489398"/>
          </a:xfrm>
          <a:custGeom>
            <a:avLst/>
            <a:gdLst/>
            <a:ahLst/>
            <a:cxnLst/>
            <a:rect r="r" b="b" t="t" l="l"/>
            <a:pathLst>
              <a:path h="10489398" w="18462967">
                <a:moveTo>
                  <a:pt x="0" y="0"/>
                </a:moveTo>
                <a:lnTo>
                  <a:pt x="18462967" y="0"/>
                </a:lnTo>
                <a:lnTo>
                  <a:pt x="18462967" y="10489398"/>
                </a:lnTo>
                <a:lnTo>
                  <a:pt x="0" y="10489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4705" y="1043875"/>
            <a:ext cx="9929331" cy="91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0"/>
              </a:lnSpc>
            </a:pPr>
            <a:r>
              <a:rPr lang="en-US" b="true" sz="529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Ranking Completo dos Agentes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89791" y="2430040"/>
            <a:ext cx="938933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b="true" sz="211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Agente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9791" y="3172373"/>
            <a:ext cx="2228689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alphabeta+corner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9791" y="3933210"/>
            <a:ext cx="2035330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minimax+corner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9791" y="4694046"/>
            <a:ext cx="2116420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minimax+frontier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9791" y="5439666"/>
            <a:ext cx="2309779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alphabeta+frontier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9791" y="6200503"/>
            <a:ext cx="2384888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alphabeta+mobility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9791" y="6961340"/>
            <a:ext cx="2191529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minimax+mobility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9791" y="7706960"/>
            <a:ext cx="963889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random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46731" y="2430040"/>
            <a:ext cx="284568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b="true" sz="211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46731" y="3172373"/>
            <a:ext cx="439125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331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46731" y="3933210"/>
            <a:ext cx="495503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293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46731" y="4694046"/>
            <a:ext cx="506078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244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46731" y="5439666"/>
            <a:ext cx="491744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46731" y="6200503"/>
            <a:ext cx="420286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197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46731" y="6961340"/>
            <a:ext cx="440509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169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46731" y="7706960"/>
            <a:ext cx="319262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87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71346" y="2430040"/>
            <a:ext cx="198061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b="true" sz="211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71346" y="3172373"/>
            <a:ext cx="326490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71346" y="3933210"/>
            <a:ext cx="170077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71346" y="4694046"/>
            <a:ext cx="170077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71346" y="5439666"/>
            <a:ext cx="162713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71346" y="6200503"/>
            <a:ext cx="173014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71346" y="6961340"/>
            <a:ext cx="169408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71346" y="7706960"/>
            <a:ext cx="217523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95976" y="2430040"/>
            <a:ext cx="155074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b="true" sz="211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095976" y="3172373"/>
            <a:ext cx="341616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64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095976" y="3933210"/>
            <a:ext cx="447600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149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095976" y="4694046"/>
            <a:ext cx="440098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198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095976" y="5439666"/>
            <a:ext cx="495092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238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095976" y="6200503"/>
            <a:ext cx="430284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251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095976" y="6961340"/>
            <a:ext cx="477029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276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095976" y="7706960"/>
            <a:ext cx="493890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350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045620" y="2430040"/>
            <a:ext cx="731895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b="true" sz="211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WR%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045620" y="3172373"/>
            <a:ext cx="818584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73,</a:t>
            </a:r>
            <a:r>
              <a:rPr lang="en-US" sz="211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r>
              <a:rPr lang="en-US" sz="211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045620" y="3933210"/>
            <a:ext cx="828490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65,4%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045620" y="4694046"/>
            <a:ext cx="825934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lang="en-US" sz="211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4,5</a:t>
            </a:r>
            <a:r>
              <a:rPr lang="en-US" sz="211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045620" y="5439666"/>
            <a:ext cx="832508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lang="en-US" sz="211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5,8</a:t>
            </a:r>
            <a:r>
              <a:rPr lang="en-US" sz="211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045620" y="6200503"/>
            <a:ext cx="847618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lang="en-US" sz="211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4,0</a:t>
            </a:r>
            <a:r>
              <a:rPr lang="en-US" sz="211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045620" y="6961340"/>
            <a:ext cx="767578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37,7%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045620" y="7706960"/>
            <a:ext cx="777773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19,4%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995264" y="2430040"/>
            <a:ext cx="1086886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b="true" sz="211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Disc Diff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995264" y="3172373"/>
            <a:ext cx="825188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+15,65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995264" y="3933210"/>
            <a:ext cx="719204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r>
              <a:rPr lang="en-US" sz="211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9,</a:t>
            </a:r>
            <a:r>
              <a:rPr lang="en-US" sz="211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97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995264" y="4694046"/>
            <a:ext cx="606950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+1,13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995264" y="5439666"/>
            <a:ext cx="685103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−1,92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995264" y="6200503"/>
            <a:ext cx="846020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−</a:t>
            </a:r>
            <a:r>
              <a:rPr lang="en-US" sz="211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0,3</a:t>
            </a:r>
            <a:r>
              <a:rPr lang="en-US" sz="211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995264" y="6961340"/>
            <a:ext cx="720558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−</a:t>
            </a:r>
            <a:r>
              <a:rPr lang="en-US" sz="211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7,1</a:t>
            </a:r>
            <a:r>
              <a:rPr lang="en-US" sz="211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995264" y="7706960"/>
            <a:ext cx="789703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−17,35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04705" y="8823822"/>
            <a:ext cx="12843496" cy="34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Tempo médio por jogada: </a:t>
            </a:r>
            <a:r>
              <a:rPr lang="en-US" b="true" sz="211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~0,095s</a:t>
            </a: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para todos os agentes informados — dentro do orçamento de 0,5s.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269923" y="2430040"/>
            <a:ext cx="1345175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b="true" sz="211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Avg Depth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269923" y="3172373"/>
            <a:ext cx="528934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5,75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5269923" y="3933210"/>
            <a:ext cx="562654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4,63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269923" y="4694046"/>
            <a:ext cx="503735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4,31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269923" y="5439666"/>
            <a:ext cx="565606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4,92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269923" y="6200503"/>
            <a:ext cx="574569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4,42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269923" y="6961340"/>
            <a:ext cx="542583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3,78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269923" y="7706960"/>
            <a:ext cx="274251" cy="5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491" y="-101039"/>
            <a:ext cx="18462967" cy="10489398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959" y="15217"/>
            <a:ext cx="6847531" cy="10271296"/>
            <a:chOff x="0" y="0"/>
            <a:chExt cx="5715000" cy="8572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5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7" t="0" r="-9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16300" y="5422225"/>
            <a:ext cx="2972331" cy="1055022"/>
            <a:chOff x="0" y="0"/>
            <a:chExt cx="1860550" cy="660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96798" y="63373"/>
              <a:ext cx="1000379" cy="238379"/>
            </a:xfrm>
            <a:custGeom>
              <a:avLst/>
              <a:gdLst/>
              <a:ahLst/>
              <a:cxnLst/>
              <a:rect r="r" b="b" t="t" l="l"/>
              <a:pathLst>
                <a:path h="238379" w="1000379">
                  <a:moveTo>
                    <a:pt x="127" y="216154"/>
                  </a:moveTo>
                  <a:lnTo>
                    <a:pt x="127" y="22225"/>
                  </a:lnTo>
                  <a:cubicBezTo>
                    <a:pt x="127" y="19304"/>
                    <a:pt x="635" y="16510"/>
                    <a:pt x="1778" y="13716"/>
                  </a:cubicBezTo>
                  <a:cubicBezTo>
                    <a:pt x="2921" y="10922"/>
                    <a:pt x="4445" y="8636"/>
                    <a:pt x="6604" y="6477"/>
                  </a:cubicBezTo>
                  <a:cubicBezTo>
                    <a:pt x="8763" y="4318"/>
                    <a:pt x="11049" y="2794"/>
                    <a:pt x="13843" y="1651"/>
                  </a:cubicBezTo>
                  <a:cubicBezTo>
                    <a:pt x="16637" y="508"/>
                    <a:pt x="19431" y="0"/>
                    <a:pt x="22352" y="0"/>
                  </a:cubicBezTo>
                  <a:lnTo>
                    <a:pt x="978154" y="0"/>
                  </a:lnTo>
                  <a:cubicBezTo>
                    <a:pt x="981075" y="0"/>
                    <a:pt x="983869" y="508"/>
                    <a:pt x="986663" y="1651"/>
                  </a:cubicBezTo>
                  <a:cubicBezTo>
                    <a:pt x="989457" y="2794"/>
                    <a:pt x="991743" y="4318"/>
                    <a:pt x="993902" y="6477"/>
                  </a:cubicBezTo>
                  <a:cubicBezTo>
                    <a:pt x="996061" y="8636"/>
                    <a:pt x="997585" y="10922"/>
                    <a:pt x="998728" y="13716"/>
                  </a:cubicBezTo>
                  <a:cubicBezTo>
                    <a:pt x="999871" y="16510"/>
                    <a:pt x="1000379" y="19304"/>
                    <a:pt x="1000379" y="22225"/>
                  </a:cubicBezTo>
                  <a:lnTo>
                    <a:pt x="1000379" y="216154"/>
                  </a:lnTo>
                  <a:cubicBezTo>
                    <a:pt x="1000379" y="219075"/>
                    <a:pt x="999871" y="221869"/>
                    <a:pt x="998728" y="224663"/>
                  </a:cubicBezTo>
                  <a:cubicBezTo>
                    <a:pt x="997585" y="227457"/>
                    <a:pt x="996061" y="229743"/>
                    <a:pt x="993902" y="231902"/>
                  </a:cubicBezTo>
                  <a:cubicBezTo>
                    <a:pt x="991743" y="234061"/>
                    <a:pt x="989457" y="235585"/>
                    <a:pt x="986663" y="236728"/>
                  </a:cubicBezTo>
                  <a:cubicBezTo>
                    <a:pt x="983869" y="237871"/>
                    <a:pt x="981075" y="238379"/>
                    <a:pt x="978154" y="238379"/>
                  </a:cubicBezTo>
                  <a:lnTo>
                    <a:pt x="22225" y="238379"/>
                  </a:lnTo>
                  <a:cubicBezTo>
                    <a:pt x="19304" y="238379"/>
                    <a:pt x="16510" y="237871"/>
                    <a:pt x="13716" y="236728"/>
                  </a:cubicBezTo>
                  <a:cubicBezTo>
                    <a:pt x="10922" y="235585"/>
                    <a:pt x="8636" y="234061"/>
                    <a:pt x="6477" y="231902"/>
                  </a:cubicBezTo>
                  <a:cubicBezTo>
                    <a:pt x="4318" y="229743"/>
                    <a:pt x="2794" y="227457"/>
                    <a:pt x="1651" y="224663"/>
                  </a:cubicBezTo>
                  <a:cubicBezTo>
                    <a:pt x="508" y="221869"/>
                    <a:pt x="0" y="219075"/>
                    <a:pt x="0" y="216154"/>
                  </a:cubicBezTo>
                </a:path>
              </a:pathLst>
            </a:custGeom>
            <a:solidFill>
              <a:srgbClr val="F2F2F2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358648"/>
              <a:ext cx="981202" cy="238379"/>
            </a:xfrm>
            <a:custGeom>
              <a:avLst/>
              <a:gdLst/>
              <a:ahLst/>
              <a:cxnLst/>
              <a:rect r="r" b="b" t="t" l="l"/>
              <a:pathLst>
                <a:path h="238379" w="981202">
                  <a:moveTo>
                    <a:pt x="0" y="216154"/>
                  </a:moveTo>
                  <a:lnTo>
                    <a:pt x="0" y="22225"/>
                  </a:lnTo>
                  <a:cubicBezTo>
                    <a:pt x="0" y="19304"/>
                    <a:pt x="508" y="16510"/>
                    <a:pt x="1651" y="13716"/>
                  </a:cubicBezTo>
                  <a:cubicBezTo>
                    <a:pt x="2794" y="10922"/>
                    <a:pt x="4318" y="8636"/>
                    <a:pt x="6477" y="6477"/>
                  </a:cubicBezTo>
                  <a:cubicBezTo>
                    <a:pt x="8636" y="4318"/>
                    <a:pt x="10922" y="2794"/>
                    <a:pt x="13716" y="1651"/>
                  </a:cubicBezTo>
                  <a:cubicBezTo>
                    <a:pt x="16510" y="508"/>
                    <a:pt x="19304" y="0"/>
                    <a:pt x="22225" y="0"/>
                  </a:cubicBezTo>
                  <a:lnTo>
                    <a:pt x="958977" y="0"/>
                  </a:lnTo>
                  <a:cubicBezTo>
                    <a:pt x="961898" y="0"/>
                    <a:pt x="964692" y="508"/>
                    <a:pt x="967486" y="1651"/>
                  </a:cubicBezTo>
                  <a:cubicBezTo>
                    <a:pt x="970280" y="2794"/>
                    <a:pt x="972566" y="4318"/>
                    <a:pt x="974725" y="6477"/>
                  </a:cubicBezTo>
                  <a:cubicBezTo>
                    <a:pt x="976884" y="8636"/>
                    <a:pt x="978408" y="10922"/>
                    <a:pt x="979551" y="13716"/>
                  </a:cubicBezTo>
                  <a:cubicBezTo>
                    <a:pt x="980694" y="16510"/>
                    <a:pt x="981202" y="19304"/>
                    <a:pt x="981202" y="22225"/>
                  </a:cubicBezTo>
                  <a:lnTo>
                    <a:pt x="981202" y="216154"/>
                  </a:lnTo>
                  <a:cubicBezTo>
                    <a:pt x="981202" y="219075"/>
                    <a:pt x="980694" y="221869"/>
                    <a:pt x="979551" y="224663"/>
                  </a:cubicBezTo>
                  <a:cubicBezTo>
                    <a:pt x="978408" y="227457"/>
                    <a:pt x="976884" y="229743"/>
                    <a:pt x="974725" y="231902"/>
                  </a:cubicBezTo>
                  <a:cubicBezTo>
                    <a:pt x="972566" y="234061"/>
                    <a:pt x="970280" y="235585"/>
                    <a:pt x="967486" y="236728"/>
                  </a:cubicBezTo>
                  <a:cubicBezTo>
                    <a:pt x="964692" y="237871"/>
                    <a:pt x="961898" y="238379"/>
                    <a:pt x="958977" y="238379"/>
                  </a:cubicBezTo>
                  <a:lnTo>
                    <a:pt x="22098" y="238379"/>
                  </a:lnTo>
                  <a:cubicBezTo>
                    <a:pt x="19177" y="238379"/>
                    <a:pt x="16383" y="237871"/>
                    <a:pt x="13589" y="236728"/>
                  </a:cubicBezTo>
                  <a:cubicBezTo>
                    <a:pt x="10795" y="235585"/>
                    <a:pt x="8509" y="234061"/>
                    <a:pt x="6350" y="231902"/>
                  </a:cubicBezTo>
                  <a:cubicBezTo>
                    <a:pt x="4191" y="229743"/>
                    <a:pt x="2667" y="227457"/>
                    <a:pt x="1524" y="224663"/>
                  </a:cubicBezTo>
                  <a:cubicBezTo>
                    <a:pt x="381" y="221869"/>
                    <a:pt x="0" y="219075"/>
                    <a:pt x="0" y="216154"/>
                  </a:cubicBezTo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2236" y="1438820"/>
            <a:ext cx="9359083" cy="1762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49"/>
              </a:lnSpc>
            </a:pPr>
            <a:r>
              <a:rPr lang="en-US" b="true" sz="55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Discussão — Profundidade, Gargalos e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68873" y="3554031"/>
            <a:ext cx="85518" cy="77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4"/>
              </a:lnSpc>
            </a:pP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2236" y="3887406"/>
            <a:ext cx="4528637" cy="4723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3"/>
              </a:lnSpc>
            </a:pP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Profundidade</a:t>
            </a: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vs. Qualidade</a:t>
            </a:r>
          </a:p>
          <a:p>
            <a:pPr algn="l">
              <a:lnSpc>
                <a:spcPts val="3545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minimax+corner (prof. 4,63, WR 65,4%) supera alphabeta+frontier (prof. 4,92, WR 45,8%). </a:t>
            </a:r>
            <a:r>
              <a:rPr lang="en-US" b="true" sz="222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Qualidade da heurística domina profundidade adicional.</a:t>
            </a: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>
              <a:lnSpc>
                <a:spcPts val="3833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Retornos decrescentes: b ≈ 10, </a:t>
            </a:r>
          </a:p>
          <a:p>
            <a:pPr algn="l">
              <a:lnSpc>
                <a:spcPts val="335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cada nível extra multiplica busca </a:t>
            </a:r>
          </a:p>
          <a:p>
            <a:pPr algn="l">
              <a:lnSpc>
                <a:spcPts val="3833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por ~10×.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28219" y="3668331"/>
            <a:ext cx="4303049" cy="663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2"/>
              </a:lnSpc>
            </a:pP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Gargalos</a:t>
            </a: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Computacionais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90678" y="4373294"/>
            <a:ext cx="81120" cy="61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1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28219" y="4554269"/>
            <a:ext cx="3646881" cy="42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Principal: cópia de matriz +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28219" y="5010771"/>
            <a:ext cx="4215538" cy="2991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validação em Python puro. A cada nó: clone_board (8×8) + valid_moves (64 × 8 direções).</a:t>
            </a:r>
          </a:p>
          <a:p>
            <a:pPr algn="l">
              <a:lnSpc>
                <a:spcPts val="5571"/>
              </a:lnSpc>
            </a:pPr>
            <a:r>
              <a:rPr lang="en-US" b="true" sz="222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Alternativa futura:</a:t>
            </a: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bitboards (2 </a:t>
            </a:r>
          </a:p>
          <a:p>
            <a:pPr algn="l">
              <a:lnSpc>
                <a:spcPts val="1617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inteiros de 64 bits, operações </a:t>
            </a:r>
          </a:p>
          <a:p>
            <a:pPr algn="l">
              <a:lnSpc>
                <a:spcPts val="5571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O(1)).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4705" y="1475164"/>
            <a:ext cx="10693089" cy="96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1"/>
              </a:lnSpc>
            </a:pPr>
            <a:r>
              <a:rPr lang="en-US" b="true" sz="55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Conclusões e Trabalhos Futuros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92312" y="5165857"/>
            <a:ext cx="279531" cy="56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b="true" sz="334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7719" y="2989864"/>
            <a:ext cx="186709" cy="56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b="true" sz="334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02065" y="5165857"/>
            <a:ext cx="292846" cy="56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b="true" sz="334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11819" y="2989864"/>
            <a:ext cx="272760" cy="56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b="true" sz="334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24618" y="5209454"/>
            <a:ext cx="6950731" cy="149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Heurística é o fator dominante</a:t>
            </a:r>
          </a:p>
          <a:p>
            <a:pPr algn="l">
              <a:lnSpc>
                <a:spcPts val="359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Corner supera todas as combinações, independente do algoritmo de busca.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4618" y="3033461"/>
            <a:ext cx="7577447" cy="91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lpha-Beta + Corner é o agente mais forte</a:t>
            </a:r>
          </a:p>
          <a:p>
            <a:pPr algn="l">
              <a:lnSpc>
                <a:spcPts val="359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73,9% WR e +15,65 disc diff por partida em 1568 jogos.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40792" y="5209454"/>
            <a:ext cx="6340844" cy="137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Melhor Heurística: Corner</a:t>
            </a:r>
          </a:p>
          <a:p>
            <a:pPr algn="l">
              <a:lnSpc>
                <a:spcPts val="359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Melhor ordenação → mais podas → maior profundidade → decisões mais informadas.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40792" y="3033461"/>
            <a:ext cx="6722510" cy="149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Alpha-Beta reduz nós em até 56,2%</a:t>
            </a:r>
          </a:p>
          <a:p>
            <a:pPr algn="l">
              <a:lnSpc>
                <a:spcPts val="359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Permite buscas ~1 nível mais profundas no mesmo orçamento de tempo.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DAHF6kJr22U</dc:identifier>
  <dcterms:modified xsi:type="dcterms:W3CDTF">2011-08-01T06:04:30Z</dcterms:modified>
  <cp:revision>1</cp:revision>
  <dc:title>Melhor Heurística: Corner Melhor ordenação → mais podas → maior profundidade → decisões mais informadas.</dc:title>
</cp:coreProperties>
</file>